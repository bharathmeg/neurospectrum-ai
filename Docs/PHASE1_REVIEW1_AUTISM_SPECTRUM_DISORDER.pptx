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5" r:id="rId9"/>
    <p:sldId id="266" r:id="rId10"/>
    <p:sldId id="267" r:id="rId11"/>
    <p:sldId id="269" r:id="rId12"/>
    <p:sldId id="270" r:id="rId13"/>
    <p:sldId id="271" r:id="rId14"/>
    <p:sldId id="272"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12/14/2023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12/14/2023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12/14/2023</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4248" y="2013506"/>
            <a:ext cx="11404250" cy="1200329"/>
          </a:xfrm>
          <a:prstGeom prst="rect">
            <a:avLst/>
          </a:prstGeom>
          <a:noFill/>
        </p:spPr>
        <p:txBody>
          <a:bodyPr wrap="square" rtlCol="0">
            <a:spAutoFit/>
          </a:bodyPr>
          <a:lstStyle/>
          <a:p>
            <a:r>
              <a:rPr lang="en-US" sz="3600" b="1" dirty="0" smtClean="0">
                <a:solidFill>
                  <a:schemeClr val="accent4">
                    <a:lumMod val="20000"/>
                    <a:lumOff val="80000"/>
                  </a:schemeClr>
                </a:solidFill>
                <a:latin typeface="Times New Roman" panose="02020603050405020304" pitchFamily="18" charset="0"/>
                <a:cs typeface="Times New Roman" panose="02020603050405020304" pitchFamily="18" charset="0"/>
              </a:rPr>
              <a:t>        AUTISM SPECTRUM DISORDER DETECTION</a:t>
            </a:r>
          </a:p>
          <a:p>
            <a:r>
              <a:rPr lang="en-US" sz="3600" b="1" dirty="0" smtClean="0">
                <a:solidFill>
                  <a:schemeClr val="accent4">
                    <a:lumMod val="20000"/>
                    <a:lumOff val="80000"/>
                  </a:schemeClr>
                </a:solidFill>
                <a:latin typeface="Times New Roman" panose="02020603050405020304" pitchFamily="18" charset="0"/>
                <a:cs typeface="Times New Roman" panose="02020603050405020304" pitchFamily="18" charset="0"/>
              </a:rPr>
              <a:t>                  USING MACHINE LEARNING</a:t>
            </a:r>
            <a:endParaRPr lang="en-US" sz="3600" b="1"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914400" y="4279769"/>
            <a:ext cx="1947969" cy="923330"/>
          </a:xfrm>
          <a:prstGeom prst="rect">
            <a:avLst/>
          </a:prstGeom>
          <a:noFill/>
        </p:spPr>
        <p:txBody>
          <a:bodyPr wrap="none" rtlCol="0">
            <a:spAutoFit/>
          </a:bodyPr>
          <a:lstStyle/>
          <a:p>
            <a:r>
              <a:rPr lang="en-US" b="1" dirty="0" smtClean="0">
                <a:latin typeface="Times New Roman" panose="02020603050405020304" pitchFamily="18" charset="0"/>
                <a:cs typeface="Times New Roman" panose="02020603050405020304" pitchFamily="18" charset="0"/>
              </a:rPr>
              <a:t>PRESENTED BY</a:t>
            </a:r>
          </a:p>
          <a:p>
            <a:r>
              <a:rPr lang="en-US" b="1" dirty="0" smtClean="0">
                <a:latin typeface="Times New Roman" panose="02020603050405020304" pitchFamily="18" charset="0"/>
                <a:cs typeface="Times New Roman" panose="02020603050405020304" pitchFamily="18" charset="0"/>
              </a:rPr>
              <a:t>NAME:</a:t>
            </a:r>
          </a:p>
          <a:p>
            <a:r>
              <a:rPr lang="en-US" b="1" dirty="0" smtClean="0">
                <a:latin typeface="Times New Roman" panose="02020603050405020304" pitchFamily="18" charset="0"/>
                <a:cs typeface="Times New Roman" panose="02020603050405020304" pitchFamily="18" charset="0"/>
              </a:rPr>
              <a:t>USN:</a:t>
            </a:r>
            <a:endParaRPr lang="en-US"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579150" y="4863338"/>
            <a:ext cx="4534293" cy="923330"/>
          </a:xfrm>
          <a:prstGeom prst="rect">
            <a:avLst/>
          </a:prstGeom>
          <a:noFill/>
        </p:spPr>
        <p:txBody>
          <a:bodyPr wrap="square" rtlCol="0">
            <a:spAutoFit/>
          </a:bodyPr>
          <a:lstStyle/>
          <a:p>
            <a:r>
              <a:rPr lang="en-US" b="1" dirty="0" smtClean="0">
                <a:solidFill>
                  <a:srgbClr val="FFFF00"/>
                </a:solidFill>
                <a:latin typeface="Times New Roman" panose="02020603050405020304" pitchFamily="18" charset="0"/>
                <a:cs typeface="Times New Roman" panose="02020603050405020304" pitchFamily="18" charset="0"/>
              </a:rPr>
              <a:t>UNDER THE GUIDANCE </a:t>
            </a:r>
            <a:r>
              <a:rPr lang="en-US" b="1" dirty="0" smtClean="0">
                <a:solidFill>
                  <a:srgbClr val="FFFF00"/>
                </a:solidFill>
                <a:latin typeface="Times New Roman" panose="02020603050405020304" pitchFamily="18" charset="0"/>
                <a:cs typeface="Times New Roman" panose="02020603050405020304" pitchFamily="18" charset="0"/>
              </a:rPr>
              <a:t>OF</a:t>
            </a:r>
            <a:endParaRPr lang="en-US" b="1" dirty="0" smtClean="0">
              <a:solidFill>
                <a:srgbClr val="FFFF00"/>
              </a:solidFill>
              <a:latin typeface="Times New Roman" panose="02020603050405020304" pitchFamily="18" charset="0"/>
              <a:cs typeface="Times New Roman" panose="02020603050405020304" pitchFamily="18" charset="0"/>
            </a:endParaRPr>
          </a:p>
          <a:p>
            <a:r>
              <a:rPr lang="en-US" b="1" dirty="0" smtClean="0">
                <a:solidFill>
                  <a:srgbClr val="FFFF00"/>
                </a:solidFill>
                <a:latin typeface="Times New Roman" panose="02020603050405020304" pitchFamily="18" charset="0"/>
                <a:cs typeface="Times New Roman" panose="02020603050405020304" pitchFamily="18" charset="0"/>
              </a:rPr>
              <a:t>PROF: </a:t>
            </a:r>
          </a:p>
          <a:p>
            <a:r>
              <a:rPr lang="en-US" b="1" dirty="0" smtClean="0">
                <a:solidFill>
                  <a:srgbClr val="FFFF00"/>
                </a:solidFill>
                <a:latin typeface="Times New Roman" panose="02020603050405020304" pitchFamily="18" charset="0"/>
                <a:cs typeface="Times New Roman" panose="02020603050405020304" pitchFamily="18" charset="0"/>
              </a:rPr>
              <a:t>DEPT OF CSE</a:t>
            </a:r>
            <a:endParaRPr lang="en-US"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006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5968" y="73152"/>
            <a:ext cx="2240280" cy="646331"/>
          </a:xfrm>
          <a:prstGeom prst="rect">
            <a:avLst/>
          </a:prstGeom>
          <a:solidFill>
            <a:srgbClr val="00B0F0"/>
          </a:solidFill>
        </p:spPr>
        <p:txBody>
          <a:bodyPr wrap="square" rtlCol="0">
            <a:spAutoFit/>
          </a:bodyPr>
          <a:lstStyle/>
          <a:p>
            <a:r>
              <a:rPr lang="en-US" sz="3600" b="1" dirty="0" smtClean="0"/>
              <a:t>AGENDA</a:t>
            </a:r>
            <a:endParaRPr lang="en-US" sz="3600" b="1" dirty="0"/>
          </a:p>
        </p:txBody>
      </p:sp>
      <p:sp>
        <p:nvSpPr>
          <p:cNvPr id="5" name="TextBox 4"/>
          <p:cNvSpPr txBox="1"/>
          <p:nvPr/>
        </p:nvSpPr>
        <p:spPr>
          <a:xfrm>
            <a:off x="434109" y="1950905"/>
            <a:ext cx="6613236" cy="4524315"/>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ABSTRACT</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INTRODUCTION</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AIM &amp; OBJECTIVE</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LITERATURE SURVEY</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EXISTING SYSTEM</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PROPOSED SYSTEM</a:t>
            </a: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SYSTEM </a:t>
            </a:r>
            <a:r>
              <a:rPr lang="en-US" sz="2400" b="1" dirty="0" smtClean="0">
                <a:solidFill>
                  <a:schemeClr val="accent4">
                    <a:lumMod val="20000"/>
                    <a:lumOff val="80000"/>
                  </a:schemeClr>
                </a:solidFill>
                <a:latin typeface="Bahnschrift SemiBold Condensed" panose="020B0502040204020203" pitchFamily="34" charset="0"/>
              </a:rPr>
              <a:t>REQUIRMENT SPECIFICATIONS</a:t>
            </a:r>
            <a:endParaRPr lang="en-US" sz="2400" b="1" dirty="0" smtClean="0">
              <a:solidFill>
                <a:schemeClr val="accent4">
                  <a:lumMod val="20000"/>
                  <a:lumOff val="80000"/>
                </a:schemeClr>
              </a:solidFill>
              <a:latin typeface="Bahnschrift SemiBold Condensed" panose="020B0502040204020203" pitchFamily="34" charset="0"/>
            </a:endParaRPr>
          </a:p>
          <a:p>
            <a:pPr marL="285750" indent="-285750">
              <a:lnSpc>
                <a:spcPct val="150000"/>
              </a:lnSpc>
              <a:buFont typeface="Wingdings" panose="05000000000000000000" pitchFamily="2" charset="2"/>
              <a:buChar char="q"/>
            </a:pPr>
            <a:r>
              <a:rPr lang="en-US" sz="2400" b="1" dirty="0" smtClean="0">
                <a:solidFill>
                  <a:schemeClr val="accent4">
                    <a:lumMod val="20000"/>
                    <a:lumOff val="80000"/>
                  </a:schemeClr>
                </a:solidFill>
                <a:latin typeface="Bahnschrift SemiBold Condensed" panose="020B0502040204020203" pitchFamily="34" charset="0"/>
              </a:rPr>
              <a:t>REFERENCES</a:t>
            </a:r>
            <a:endParaRPr lang="en-US" sz="2400" b="1" dirty="0">
              <a:solidFill>
                <a:schemeClr val="accent4">
                  <a:lumMod val="20000"/>
                  <a:lumOff val="80000"/>
                </a:schemeClr>
              </a:solidFill>
              <a:latin typeface="Bahnschrift SemiBold Condensed" panose="020B0502040204020203" pitchFamily="34" charset="0"/>
            </a:endParaRPr>
          </a:p>
        </p:txBody>
      </p:sp>
      <p:pic>
        <p:nvPicPr>
          <p:cNvPr id="1028" name="Picture 4" descr="What are Symptoms of Autis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5979" y="1950905"/>
            <a:ext cx="7606022" cy="511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813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63824" y="2770632"/>
            <a:ext cx="3602736" cy="769441"/>
          </a:xfrm>
          <a:prstGeom prst="rect">
            <a:avLst/>
          </a:prstGeom>
          <a:noFill/>
        </p:spPr>
        <p:txBody>
          <a:bodyPr wrap="square" rtlCol="0">
            <a:spAutoFit/>
          </a:bodyPr>
          <a:lstStyle/>
          <a:p>
            <a:r>
              <a:rPr lang="en-US" sz="4400" b="1" dirty="0" smtClean="0">
                <a:solidFill>
                  <a:srgbClr val="FF0000"/>
                </a:solidFill>
                <a:latin typeface="Times New Roman" panose="02020603050405020304" pitchFamily="18" charset="0"/>
                <a:cs typeface="Times New Roman" panose="02020603050405020304" pitchFamily="18" charset="0"/>
              </a:rPr>
              <a:t>ABSTRACT</a:t>
            </a:r>
            <a:endParaRPr lang="en-US" sz="4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54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941832"/>
            <a:ext cx="10094976" cy="507831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It is always a complex procedure to diagnose autism spectrum disorder (ASD) because there is no particular medical test for autism, like a blood test, to make a diagnosis for the disorder. </a:t>
            </a:r>
            <a:endParaRPr lang="en-IN"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Autism </a:t>
            </a:r>
            <a:r>
              <a:rPr lang="en-IN" dirty="0">
                <a:latin typeface="Times New Roman" panose="02020603050405020304" pitchFamily="18" charset="0"/>
                <a:cs typeface="Times New Roman" panose="02020603050405020304" pitchFamily="18" charset="0"/>
              </a:rPr>
              <a:t>spectrum disorder is defined by the disability and impairments of participating in social communication or the presence of restricted or repetitive behaviours, or both. </a:t>
            </a:r>
            <a:endParaRPr lang="en-IN"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It </a:t>
            </a:r>
            <a:r>
              <a:rPr lang="en-IN" dirty="0">
                <a:latin typeface="Times New Roman" panose="02020603050405020304" pitchFamily="18" charset="0"/>
                <a:cs typeface="Times New Roman" panose="02020603050405020304" pitchFamily="18" charset="0"/>
              </a:rPr>
              <a:t>is a behaviourally diagnosed condition. To make a diagnosis, doctors look at the child's developmental history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Apparently, most children do not attain a proper diagnosis for autism until it is too late. </a:t>
            </a:r>
            <a:endParaRPr lang="en-IN"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So</a:t>
            </a:r>
            <a:r>
              <a:rPr lang="en-IN" dirty="0">
                <a:latin typeface="Times New Roman" panose="02020603050405020304" pitchFamily="18" charset="0"/>
                <a:cs typeface="Times New Roman" panose="02020603050405020304" pitchFamily="18" charset="0"/>
              </a:rPr>
              <a:t>, we are developing a system that will have the ability to diagnose Autism and come up with a reliable and effective conclusion even without the help of a professional. We hope this system will be very helpful for those concerned parents who are worried about their child's growth and activities, at the same time it will be very useful for the professionals.</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613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27248" y="2715768"/>
            <a:ext cx="4572000" cy="707886"/>
          </a:xfrm>
          <a:prstGeom prst="rect">
            <a:avLst/>
          </a:prstGeom>
          <a:noFill/>
        </p:spPr>
        <p:txBody>
          <a:bodyPr wrap="square" rtlCol="0">
            <a:spAutoFit/>
          </a:bodyPr>
          <a:lstStyle/>
          <a:p>
            <a:r>
              <a:rPr lang="en-US" sz="4000" b="1" dirty="0" smtClean="0">
                <a:solidFill>
                  <a:srgbClr val="FFFF00"/>
                </a:solidFill>
              </a:rPr>
              <a:t>INTRODUCTION</a:t>
            </a:r>
            <a:endParaRPr lang="en-US" sz="4000" b="1" dirty="0">
              <a:solidFill>
                <a:srgbClr val="FFFF00"/>
              </a:solidFill>
            </a:endParaRPr>
          </a:p>
        </p:txBody>
      </p:sp>
    </p:spTree>
    <p:extLst>
      <p:ext uri="{BB962C8B-B14F-4D97-AF65-F5344CB8AC3E}">
        <p14:creationId xmlns:p14="http://schemas.microsoft.com/office/powerpoint/2010/main" val="341647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73152"/>
            <a:ext cx="11311128" cy="7017306"/>
          </a:xfrm>
          <a:prstGeom prst="rect">
            <a:avLst/>
          </a:prstGeom>
          <a:noFill/>
        </p:spPr>
        <p:txBody>
          <a:bodyPr wrap="square" rtlCol="0">
            <a:spAutoFit/>
          </a:bodyPr>
          <a:lstStyle/>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Autism, formally known as Autism Spectrum Disorder (ASD), is a complex neurodevelopmental condition that affects individuals in various ways. It is characterized by a wide range of symptoms and challenges that primarily impact social interaction, communication, and behavior</a:t>
            </a:r>
            <a:r>
              <a:rPr lang="en-IN"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Autism is often described as a "spectrum" disorder because it manifests differently in each person, with varying degrees of severity and a diverse array of strengths and difficulties. Autism typically becomes apparent in early childhood, often before the age of three. However, it can continue to influence an individual's life throughout their lifespan</a:t>
            </a:r>
            <a:r>
              <a:rPr lang="en-IN"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While </a:t>
            </a:r>
            <a:r>
              <a:rPr lang="en-IN" dirty="0">
                <a:latin typeface="Times New Roman" panose="02020603050405020304" pitchFamily="18" charset="0"/>
                <a:cs typeface="Times New Roman" panose="02020603050405020304" pitchFamily="18" charset="0"/>
              </a:rPr>
              <a:t>the exact cause of autism remains the subject of ongoing research, it is believed to result from a combination of genetic and environmental factors. Some common features of autism include: Social Challenges: Individuals with autism may have difficulty with social interactions, including understanding social cues, maintaining eye contact, and forming relationships. Communication Difficulties: Many people with autism experience challenges in verbal and nonverbal communication</a:t>
            </a:r>
            <a:r>
              <a:rPr lang="en-IN"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Autism </a:t>
            </a:r>
            <a:r>
              <a:rPr lang="en-IN" dirty="0">
                <a:latin typeface="Times New Roman" panose="02020603050405020304" pitchFamily="18" charset="0"/>
                <a:cs typeface="Times New Roman" panose="02020603050405020304" pitchFamily="18" charset="0"/>
              </a:rPr>
              <a:t>awareness and acceptance are crucial in promoting inclusivity and ensuring that individuals with autism are given the opportunities they deserve to reach their full potential. </a:t>
            </a: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recent years, machine learning has acquired many achievements and it is gaining more importance in applied sciences such as medicine and biomedicine. In clinical decision making and diagnostics, machine learning methods are used or recommended to support data interpretation. Therefore, methods of screening diseases with the aid of machine learning are extensively studied.</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902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81528" y="2706624"/>
            <a:ext cx="5660136" cy="769441"/>
          </a:xfrm>
          <a:prstGeom prst="rect">
            <a:avLst/>
          </a:prstGeom>
          <a:noFill/>
        </p:spPr>
        <p:txBody>
          <a:bodyPr wrap="square" rtlCol="0">
            <a:spAutoFit/>
          </a:bodyPr>
          <a:lstStyle/>
          <a:p>
            <a:r>
              <a:rPr lang="en-US" sz="4400" b="1" dirty="0" smtClean="0">
                <a:solidFill>
                  <a:srgbClr val="FFC000"/>
                </a:solidFill>
              </a:rPr>
              <a:t>AIM &amp; OBJECTIVE</a:t>
            </a:r>
            <a:endParaRPr lang="en-US" sz="4400" b="1" dirty="0">
              <a:solidFill>
                <a:srgbClr val="FFC000"/>
              </a:solidFill>
            </a:endParaRPr>
          </a:p>
        </p:txBody>
      </p:sp>
    </p:spTree>
    <p:extLst>
      <p:ext uri="{BB962C8B-B14F-4D97-AF65-F5344CB8AC3E}">
        <p14:creationId xmlns:p14="http://schemas.microsoft.com/office/powerpoint/2010/main" val="17072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365760"/>
            <a:ext cx="10341864" cy="544405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main objective is to develop an application which can allow the user to be able to find out whether he/she may have chances of being Autistic. Other objectives of this application is to be able to satisfy the need for early detection of Autism and provide necessary details about such a medical condition. The application also consists of available doctors who specialize in certain fields, this can be vital and informative to the user. Our aim is to make this web application user friendly and accessible.</a:t>
            </a:r>
          </a:p>
          <a:p>
            <a:pPr algn="just">
              <a:lnSpc>
                <a:spcPct val="150000"/>
              </a:lnSpc>
            </a:pP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The dataset Collection for Autism Spectrum Disorder Dataset from various sources.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Data cleaning, Visualization and Feature Extractions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Distinct machine-learning classification algorithms were used to build a classifier to predict the Disease.</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Modelling the data with classifiers </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Performance Evaluation and Predictions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Building a web application to demonstrate the output.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934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6472" y="256032"/>
            <a:ext cx="4370832" cy="646331"/>
          </a:xfrm>
          <a:prstGeom prst="rect">
            <a:avLst/>
          </a:prstGeom>
          <a:noFill/>
        </p:spPr>
        <p:txBody>
          <a:bodyPr wrap="square" rtlCol="0">
            <a:spAutoFit/>
          </a:bodyPr>
          <a:lstStyle/>
          <a:p>
            <a:r>
              <a:rPr lang="en-US" sz="3600" b="1" dirty="0" smtClean="0">
                <a:solidFill>
                  <a:srgbClr val="FF0000"/>
                </a:solidFill>
              </a:rPr>
              <a:t>EXISTING SYSTEM</a:t>
            </a:r>
            <a:endParaRPr lang="en-US" sz="3600" b="1" dirty="0">
              <a:solidFill>
                <a:srgbClr val="FF0000"/>
              </a:solidFill>
            </a:endParaRPr>
          </a:p>
        </p:txBody>
      </p:sp>
      <p:sp>
        <p:nvSpPr>
          <p:cNvPr id="4" name="TextBox 3"/>
          <p:cNvSpPr txBox="1"/>
          <p:nvPr/>
        </p:nvSpPr>
        <p:spPr>
          <a:xfrm>
            <a:off x="109728" y="1234440"/>
            <a:ext cx="10716768" cy="2777940"/>
          </a:xfrm>
          <a:prstGeom prst="rect">
            <a:avLst/>
          </a:prstGeom>
          <a:noFill/>
        </p:spPr>
        <p:txBody>
          <a:bodyPr wrap="square" rtlCol="0">
            <a:spAutoFit/>
          </a:bodyPr>
          <a:lstStyle/>
          <a:p>
            <a:pPr>
              <a:lnSpc>
                <a:spcPct val="200000"/>
              </a:lnSpc>
            </a:pPr>
            <a:r>
              <a:rPr lang="en-IN" dirty="0">
                <a:latin typeface="Times New Roman" panose="02020603050405020304" pitchFamily="18" charset="0"/>
                <a:cs typeface="Times New Roman" panose="02020603050405020304" pitchFamily="18" charset="0"/>
              </a:rPr>
              <a:t>The major part of the existing literature on autism spectrum disorder is covered by a prediction system based on traditional machine learning algorithms such as Linear Regression, Logistic Regression, multiple layer perceptron and deep neural network.</a:t>
            </a:r>
            <a:endParaRPr lang="en-US" dirty="0">
              <a:latin typeface="Times New Roman" panose="02020603050405020304" pitchFamily="18" charset="0"/>
              <a:cs typeface="Times New Roman" panose="02020603050405020304" pitchFamily="18" charset="0"/>
            </a:endParaRPr>
          </a:p>
          <a:p>
            <a:pPr>
              <a:lnSpc>
                <a:spcPct val="200000"/>
              </a:lnSpc>
            </a:pPr>
            <a:r>
              <a:rPr lang="en-IN" dirty="0">
                <a:latin typeface="Times New Roman" panose="02020603050405020304" pitchFamily="18" charset="0"/>
                <a:cs typeface="Times New Roman" panose="02020603050405020304" pitchFamily="18" charset="0"/>
              </a:rPr>
              <a:t>Using these machine learning model achieving very less accuracy such 67 to 72% with less precision, recall and F1 Square.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324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82112" y="91440"/>
            <a:ext cx="5081262" cy="646331"/>
          </a:xfrm>
          <a:prstGeom prst="rect">
            <a:avLst/>
          </a:prstGeom>
          <a:noFill/>
        </p:spPr>
        <p:txBody>
          <a:bodyPr wrap="square" rtlCol="0">
            <a:spAutoFit/>
          </a:bodyPr>
          <a:lstStyle/>
          <a:p>
            <a:r>
              <a:rPr lang="en-US" sz="3600" b="1" dirty="0" smtClean="0">
                <a:solidFill>
                  <a:srgbClr val="FFC000"/>
                </a:solidFill>
              </a:rPr>
              <a:t>PROPOSED SYSTEM</a:t>
            </a:r>
            <a:endParaRPr lang="en-US" sz="3600" b="1" dirty="0">
              <a:solidFill>
                <a:srgbClr val="FFC000"/>
              </a:solidFill>
            </a:endParaRPr>
          </a:p>
        </p:txBody>
      </p:sp>
      <p:sp>
        <p:nvSpPr>
          <p:cNvPr id="3" name="TextBox 2"/>
          <p:cNvSpPr txBox="1"/>
          <p:nvPr/>
        </p:nvSpPr>
        <p:spPr>
          <a:xfrm>
            <a:off x="173736" y="996696"/>
            <a:ext cx="9994392" cy="4524315"/>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models are validated by using performance measurement parameters such as accuracy, precision, and recall</a:t>
            </a:r>
            <a:r>
              <a:rPr lang="en-IN" dirty="0" smtClean="0">
                <a:latin typeface="Times New Roman" panose="02020603050405020304" pitchFamily="18" charset="0"/>
                <a:cs typeface="Times New Roman" panose="02020603050405020304" pitchFamily="18" charset="0"/>
              </a:rPr>
              <a:t>.</a:t>
            </a:r>
          </a:p>
          <a:p>
            <a:pPr marL="285750" indent="-285750" algn="just">
              <a:lnSpc>
                <a:spcPct val="200000"/>
              </a:lnSpc>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 this </a:t>
            </a:r>
            <a:r>
              <a:rPr lang="en-IN" dirty="0" smtClean="0">
                <a:latin typeface="Times New Roman" panose="02020603050405020304" pitchFamily="18" charset="0"/>
                <a:cs typeface="Times New Roman" panose="02020603050405020304" pitchFamily="18" charset="0"/>
              </a:rPr>
              <a:t>Project, </a:t>
            </a:r>
            <a:r>
              <a:rPr lang="en-IN" dirty="0">
                <a:latin typeface="Times New Roman" panose="02020603050405020304" pitchFamily="18" charset="0"/>
                <a:cs typeface="Times New Roman" panose="02020603050405020304" pitchFamily="18" charset="0"/>
              </a:rPr>
              <a:t>autism spectrum disorder prediction has been investigated and compared using common parameters such as application type, simulation method, comparison methodology, and input data. </a:t>
            </a:r>
            <a:endParaRPr lang="en-IN" dirty="0" smtClean="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key purpose of this study is to give a centralized framework to use for researchers working on autism spectrum disorder prediction. </a:t>
            </a:r>
            <a:endParaRPr lang="en-IN" dirty="0" smtClean="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Here </a:t>
            </a:r>
            <a:r>
              <a:rPr lang="en-IN" dirty="0">
                <a:latin typeface="Times New Roman" panose="02020603050405020304" pitchFamily="18" charset="0"/>
                <a:cs typeface="Times New Roman" panose="02020603050405020304" pitchFamily="18" charset="0"/>
              </a:rPr>
              <a:t>we developed Random Forest, Support vector machine and KNN Algorithm to achieve good performance and evaluation of the model.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83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92608"/>
            <a:ext cx="7086600" cy="631850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42207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0312" y="2980944"/>
            <a:ext cx="11972941" cy="769441"/>
          </a:xfrm>
          <a:prstGeom prst="rect">
            <a:avLst/>
          </a:prstGeom>
          <a:noFill/>
        </p:spPr>
        <p:txBody>
          <a:bodyPr wrap="square" rtlCol="0">
            <a:spAutoFit/>
          </a:bodyPr>
          <a:lstStyle/>
          <a:p>
            <a:r>
              <a:rPr lang="en-US" sz="4400" b="1" dirty="0" smtClean="0">
                <a:solidFill>
                  <a:srgbClr val="FFFF00"/>
                </a:solidFill>
              </a:rPr>
              <a:t>SYSTEM REQUIRMENT &amp; </a:t>
            </a:r>
            <a:r>
              <a:rPr lang="en-US" sz="4400" b="1" dirty="0" smtClean="0">
                <a:solidFill>
                  <a:srgbClr val="FFFF00"/>
                </a:solidFill>
              </a:rPr>
              <a:t>SPECIFICATIONS</a:t>
            </a:r>
            <a:endParaRPr lang="en-US" sz="4400" b="1" dirty="0">
              <a:solidFill>
                <a:srgbClr val="FFFF00"/>
              </a:solidFill>
            </a:endParaRPr>
          </a:p>
        </p:txBody>
      </p:sp>
    </p:spTree>
    <p:extLst>
      <p:ext uri="{BB962C8B-B14F-4D97-AF65-F5344CB8AC3E}">
        <p14:creationId xmlns:p14="http://schemas.microsoft.com/office/powerpoint/2010/main" val="1759415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 y="91440"/>
            <a:ext cx="11073384" cy="6154840"/>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Software Requirements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Scripting language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Python Programming</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Scripting Tool	</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Anaconda Navigator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or Google Colab</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Operating System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Microsoft Windows 8/ 10 or 11</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Dataset			                </a:t>
            </a:r>
            <a:r>
              <a:rPr lang="en-IN" dirty="0" smtClean="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UCI Machine Learning Repository  - Autism Dataset</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Machine Learning Packages       :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Pandas, </a:t>
            </a:r>
            <a:r>
              <a:rPr lang="en-IN" dirty="0" err="1">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Packages etc.. </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Web Application Platform          :  Flask ( Python Full Stack Framework )	</a:t>
            </a:r>
          </a:p>
          <a:p>
            <a:pPr algn="just">
              <a:lnSpc>
                <a:spcPct val="150000"/>
              </a:lnSpc>
            </a:pPr>
            <a:r>
              <a:rPr lang="en-IN"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Hardware Requirements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Processor 			:          3.0 GHz and Above</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Output Devices		:	Monitor (LCD)</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Input Devices			:	Keyboard</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Hard Disk			:	1 TB</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RAM                               	 :          8GB or Above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439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11880" y="0"/>
            <a:ext cx="3351415" cy="646331"/>
          </a:xfrm>
          <a:prstGeom prst="rect">
            <a:avLst/>
          </a:prstGeom>
          <a:noFill/>
        </p:spPr>
        <p:txBody>
          <a:bodyPr wrap="square" rtlCol="0">
            <a:spAutoFit/>
          </a:bodyPr>
          <a:lstStyle/>
          <a:p>
            <a:r>
              <a:rPr lang="en-US" sz="3600" b="1" dirty="0" smtClean="0"/>
              <a:t>REFERENCES</a:t>
            </a:r>
            <a:endParaRPr lang="en-US" sz="3600" b="1" dirty="0"/>
          </a:p>
        </p:txBody>
      </p:sp>
      <p:sp>
        <p:nvSpPr>
          <p:cNvPr id="3" name="TextBox 2"/>
          <p:cNvSpPr txBox="1"/>
          <p:nvPr/>
        </p:nvSpPr>
        <p:spPr>
          <a:xfrm>
            <a:off x="73152" y="813816"/>
            <a:ext cx="10259568" cy="502855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"Machine learning in autistic spectrum disorder behavioral research: A review and ways forward. (2018) " Informatics for Health and Social Care : 1-20.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Firuz</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Kamalov</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Khairan</a:t>
            </a:r>
            <a:r>
              <a:rPr lang="en-US" dirty="0">
                <a:latin typeface="Times New Roman" panose="02020603050405020304" pitchFamily="18" charset="0"/>
                <a:cs typeface="Times New Roman" panose="02020603050405020304" pitchFamily="18" charset="0"/>
              </a:rPr>
              <a:t> Rajab. (2018) "A new computational intelligence approach to detect autistic features for autism screening." International journal of medical informatics 117: 112-124.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[3] </a:t>
            </a:r>
            <a:r>
              <a:rPr lang="en-US" dirty="0" err="1">
                <a:latin typeface="Times New Roman" panose="02020603050405020304" pitchFamily="18" charset="0"/>
                <a:cs typeface="Times New Roman" panose="02020603050405020304" pitchFamily="18" charset="0"/>
              </a:rPr>
              <a:t>Vaishali</a:t>
            </a:r>
            <a:r>
              <a:rPr lang="en-US" dirty="0">
                <a:latin typeface="Times New Roman" panose="02020603050405020304" pitchFamily="18" charset="0"/>
                <a:cs typeface="Times New Roman" panose="02020603050405020304" pitchFamily="18" charset="0"/>
              </a:rPr>
              <a:t>, R., and R. </a:t>
            </a:r>
            <a:r>
              <a:rPr lang="en-US" dirty="0" err="1">
                <a:latin typeface="Times New Roman" panose="02020603050405020304" pitchFamily="18" charset="0"/>
                <a:cs typeface="Times New Roman" panose="02020603050405020304" pitchFamily="18" charset="0"/>
              </a:rPr>
              <a:t>Sasikala</a:t>
            </a:r>
            <a:r>
              <a:rPr lang="en-US" dirty="0">
                <a:latin typeface="Times New Roman" panose="02020603050405020304" pitchFamily="18" charset="0"/>
                <a:cs typeface="Times New Roman" panose="02020603050405020304" pitchFamily="18" charset="0"/>
              </a:rPr>
              <a:t>. "A machine learning based approach to classify Autism with optimum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sets. (2018) " International Journal of Engineering &amp; Technology 7(4): 18.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[4] </a:t>
            </a:r>
            <a:r>
              <a:rPr lang="en-US" dirty="0" err="1">
                <a:latin typeface="Times New Roman" panose="02020603050405020304" pitchFamily="18" charset="0"/>
                <a:cs typeface="Times New Roman" panose="02020603050405020304" pitchFamily="18" charset="0"/>
              </a:rPr>
              <a:t>Constantino</a:t>
            </a:r>
            <a:r>
              <a:rPr lang="en-US" dirty="0">
                <a:latin typeface="Times New Roman" panose="02020603050405020304" pitchFamily="18" charset="0"/>
                <a:cs typeface="Times New Roman" panose="02020603050405020304" pitchFamily="18" charset="0"/>
              </a:rPr>
              <a:t>, John N., Patricia D. </a:t>
            </a:r>
            <a:r>
              <a:rPr lang="en-US" dirty="0" err="1">
                <a:latin typeface="Times New Roman" panose="02020603050405020304" pitchFamily="18" charset="0"/>
                <a:cs typeface="Times New Roman" panose="02020603050405020304" pitchFamily="18" charset="0"/>
              </a:rPr>
              <a:t>Lavesser</a:t>
            </a:r>
            <a:r>
              <a:rPr lang="en-US" dirty="0">
                <a:latin typeface="Times New Roman" panose="02020603050405020304" pitchFamily="18" charset="0"/>
                <a:cs typeface="Times New Roman" panose="02020603050405020304" pitchFamily="18" charset="0"/>
              </a:rPr>
              <a:t>, Y. I. Zhang, Anna M. </a:t>
            </a:r>
            <a:r>
              <a:rPr lang="en-US" dirty="0" err="1">
                <a:latin typeface="Times New Roman" panose="02020603050405020304" pitchFamily="18" charset="0"/>
                <a:cs typeface="Times New Roman" panose="02020603050405020304" pitchFamily="18" charset="0"/>
              </a:rPr>
              <a:t>Abbacchi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Teddi</a:t>
            </a:r>
            <a:r>
              <a:rPr lang="en-US" dirty="0">
                <a:latin typeface="Times New Roman" panose="02020603050405020304" pitchFamily="18" charset="0"/>
                <a:cs typeface="Times New Roman" panose="02020603050405020304" pitchFamily="18" charset="0"/>
              </a:rPr>
              <a:t> Gray, and Richard D. Todd. (2007) "Rapid quantitative assessment of autistic social impairment by classroom teachers." Journal of the American Academy of Child &amp; Adolescent Psychiatry 46(12): 1668-1676.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[5] Daniel Bone, Matthew S. Goodwin, Matthew P. Black, Chi-Chun Lee, </a:t>
            </a:r>
            <a:r>
              <a:rPr lang="en-US" dirty="0" err="1">
                <a:latin typeface="Times New Roman" panose="02020603050405020304" pitchFamily="18" charset="0"/>
                <a:cs typeface="Times New Roman" panose="02020603050405020304" pitchFamily="18" charset="0"/>
              </a:rPr>
              <a:t>Kartik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Audhkhasi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Shrikanth</a:t>
            </a:r>
            <a:r>
              <a:rPr lang="en-US" dirty="0">
                <a:latin typeface="Times New Roman" panose="02020603050405020304" pitchFamily="18" charset="0"/>
                <a:cs typeface="Times New Roman" panose="02020603050405020304" pitchFamily="18" charset="0"/>
              </a:rPr>
              <a:t> Narayanan. (2015) "Applying machine learning to facilitate autism diagnostics: pitfalls and promises." Journal of autism and developmental disorders 45(5): 1121-1136.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2830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182880"/>
            <a:ext cx="11183112" cy="507831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6] Dennis Paul Wall, J. </a:t>
            </a:r>
            <a:r>
              <a:rPr lang="en-US" dirty="0" err="1">
                <a:latin typeface="Times New Roman" panose="02020603050405020304" pitchFamily="18" charset="0"/>
                <a:cs typeface="Times New Roman" panose="02020603050405020304" pitchFamily="18" charset="0"/>
              </a:rPr>
              <a:t>Kosmicki</a:t>
            </a:r>
            <a:r>
              <a:rPr lang="en-US" dirty="0">
                <a:latin typeface="Times New Roman" panose="02020603050405020304" pitchFamily="18" charset="0"/>
                <a:cs typeface="Times New Roman" panose="02020603050405020304" pitchFamily="18" charset="0"/>
              </a:rPr>
              <a:t>, T. F. Deluca, E. </a:t>
            </a:r>
            <a:r>
              <a:rPr lang="en-US" dirty="0" err="1">
                <a:latin typeface="Times New Roman" panose="02020603050405020304" pitchFamily="18" charset="0"/>
                <a:cs typeface="Times New Roman" panose="02020603050405020304" pitchFamily="18" charset="0"/>
              </a:rPr>
              <a:t>Harstad</a:t>
            </a:r>
            <a:r>
              <a:rPr lang="en-US" dirty="0">
                <a:latin typeface="Times New Roman" panose="02020603050405020304" pitchFamily="18" charset="0"/>
                <a:cs typeface="Times New Roman" panose="02020603050405020304" pitchFamily="18" charset="0"/>
              </a:rPr>
              <a:t>, and Vincent Alfred </a:t>
            </a:r>
            <a:r>
              <a:rPr lang="en-US" dirty="0" err="1">
                <a:latin typeface="Times New Roman" panose="02020603050405020304" pitchFamily="18" charset="0"/>
                <a:cs typeface="Times New Roman" panose="02020603050405020304" pitchFamily="18" charset="0"/>
              </a:rPr>
              <a:t>Fusaro</a:t>
            </a:r>
            <a:r>
              <a:rPr lang="en-US" dirty="0">
                <a:latin typeface="Times New Roman" panose="02020603050405020304" pitchFamily="18" charset="0"/>
                <a:cs typeface="Times New Roman" panose="02020603050405020304" pitchFamily="18" charset="0"/>
              </a:rPr>
              <a:t>. (2012) “Use of machine learning to shorten </a:t>
            </a:r>
            <a:r>
              <a:rPr lang="en-US" dirty="0" err="1">
                <a:latin typeface="Times New Roman" panose="02020603050405020304" pitchFamily="18" charset="0"/>
                <a:cs typeface="Times New Roman" panose="02020603050405020304" pitchFamily="18" charset="0"/>
              </a:rPr>
              <a:t>observationbased</a:t>
            </a:r>
            <a:r>
              <a:rPr lang="en-US" dirty="0">
                <a:latin typeface="Times New Roman" panose="02020603050405020304" pitchFamily="18" charset="0"/>
                <a:cs typeface="Times New Roman" panose="02020603050405020304" pitchFamily="18" charset="0"/>
              </a:rPr>
              <a:t> screening and diagnosis of autism.” Translational psychiatry, 2(4): e100.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[7] Dennis P. Wall, Rebecca Dally, Rhiannon </a:t>
            </a:r>
            <a:r>
              <a:rPr lang="en-US" dirty="0" err="1">
                <a:latin typeface="Times New Roman" panose="02020603050405020304" pitchFamily="18" charset="0"/>
                <a:cs typeface="Times New Roman" panose="02020603050405020304" pitchFamily="18" charset="0"/>
              </a:rPr>
              <a:t>Luyster</a:t>
            </a:r>
            <a:r>
              <a:rPr lang="en-US" dirty="0">
                <a:latin typeface="Times New Roman" panose="02020603050405020304" pitchFamily="18" charset="0"/>
                <a:cs typeface="Times New Roman" panose="02020603050405020304" pitchFamily="18" charset="0"/>
              </a:rPr>
              <a:t>, Jae-Yoon Jung, and Todd F. DeLuca. (2012) “Use of artificial intelligence to shorten the behavioral diagnosis of autism.” </a:t>
            </a:r>
            <a:r>
              <a:rPr lang="en-US" dirty="0" err="1">
                <a:latin typeface="Times New Roman" panose="02020603050405020304" pitchFamily="18" charset="0"/>
                <a:cs typeface="Times New Roman" panose="02020603050405020304" pitchFamily="18" charset="0"/>
              </a:rPr>
              <a:t>PloS</a:t>
            </a:r>
            <a:r>
              <a:rPr lang="en-US" dirty="0">
                <a:latin typeface="Times New Roman" panose="02020603050405020304" pitchFamily="18" charset="0"/>
                <a:cs typeface="Times New Roman" panose="02020603050405020304" pitchFamily="18" charset="0"/>
              </a:rPr>
              <a:t> one, 7(8): e43855.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[8]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“Autism spectrum disorder screening: machine learning adaptation and DSM-5 fulfillment.” In Proceedings of the 1st International Conference on Medical and Health Informatics, pp. 1-6. ACM.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[9] Daniel Bone, Chi-Chun Lee, Matthew P. Black, Marian E. Williams, </a:t>
            </a:r>
            <a:r>
              <a:rPr lang="en-US" dirty="0" err="1">
                <a:latin typeface="Times New Roman" panose="02020603050405020304" pitchFamily="18" charset="0"/>
                <a:cs typeface="Times New Roman" panose="02020603050405020304" pitchFamily="18" charset="0"/>
              </a:rPr>
              <a:t>Sungbok</a:t>
            </a:r>
            <a:r>
              <a:rPr lang="en-US" dirty="0">
                <a:latin typeface="Times New Roman" panose="02020603050405020304" pitchFamily="18" charset="0"/>
                <a:cs typeface="Times New Roman" panose="02020603050405020304" pitchFamily="18" charset="0"/>
              </a:rPr>
              <a:t> Lee, Pat Levitt, and </a:t>
            </a:r>
            <a:r>
              <a:rPr lang="en-US" dirty="0" err="1">
                <a:latin typeface="Times New Roman" panose="02020603050405020304" pitchFamily="18" charset="0"/>
                <a:cs typeface="Times New Roman" panose="02020603050405020304" pitchFamily="18" charset="0"/>
              </a:rPr>
              <a:t>Shrikanth</a:t>
            </a:r>
            <a:r>
              <a:rPr lang="en-US" dirty="0">
                <a:latin typeface="Times New Roman" panose="02020603050405020304" pitchFamily="18" charset="0"/>
                <a:cs typeface="Times New Roman" panose="02020603050405020304" pitchFamily="18" charset="0"/>
              </a:rPr>
              <a:t> Narayanan.(2014). “The psychologist as an interlocutor in autism spectrum disorder assessment: Insights from a study of spontaneous prosody.” Journal of Speech, Language, and Hearing Research, 57(4): pp.1162-1177. [10]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“ASD Tests. A mobile app for ASD screening.” www.asdtests.com [accessed December 20th, 2017</a:t>
            </a:r>
            <a:r>
              <a:rPr lang="en-US" dirty="0" smtClean="0">
                <a:latin typeface="Times New Roman" panose="02020603050405020304" pitchFamily="18" charset="0"/>
                <a:cs typeface="Times New Roman" panose="02020603050405020304" pitchFamily="18" charset="0"/>
              </a:rPr>
              <a:t>].</a:t>
            </a:r>
          </a:p>
          <a:p>
            <a:pPr>
              <a:lnSpc>
                <a:spcPct val="150000"/>
              </a:lnSpc>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10]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“ASD Tests. A mobile app for ASD screening.” www.asdtests.com [accessed December 20th, 2017</a:t>
            </a:r>
            <a:r>
              <a:rPr lang="en-US"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7397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70</TotalTime>
  <Words>1236</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Bahnschrift SemiBold Condensed</vt:lpstr>
      <vt:lpstr>Century Gothic</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Admin</cp:lastModifiedBy>
  <cp:revision>11</cp:revision>
  <dcterms:created xsi:type="dcterms:W3CDTF">2023-12-14T05:09:47Z</dcterms:created>
  <dcterms:modified xsi:type="dcterms:W3CDTF">2023-12-14T09:52:59Z</dcterms:modified>
</cp:coreProperties>
</file>
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2"/>
  </p:notesMasterIdLst>
  <p:sldIdLst>
    <p:sldId id="256" r:id="rId2"/>
    <p:sldId id="258" r:id="rId3"/>
    <p:sldId id="257" r:id="rId4"/>
    <p:sldId id="269" r:id="rId5"/>
    <p:sldId id="270" r:id="rId6"/>
    <p:sldId id="259" r:id="rId7"/>
    <p:sldId id="267" r:id="rId8"/>
    <p:sldId id="268" r:id="rId9"/>
    <p:sldId id="271" r:id="rId10"/>
    <p:sldId id="272" r:id="rId11"/>
    <p:sldId id="273" r:id="rId12"/>
    <p:sldId id="274" r:id="rId13"/>
    <p:sldId id="260" r:id="rId14"/>
    <p:sldId id="308" r:id="rId15"/>
    <p:sldId id="312" r:id="rId16"/>
    <p:sldId id="313" r:id="rId17"/>
    <p:sldId id="314" r:id="rId18"/>
    <p:sldId id="275" r:id="rId19"/>
    <p:sldId id="309" r:id="rId20"/>
    <p:sldId id="310" r:id="rId21"/>
    <p:sldId id="311" r:id="rId22"/>
    <p:sldId id="296" r:id="rId23"/>
    <p:sldId id="297" r:id="rId24"/>
    <p:sldId id="298" r:id="rId25"/>
    <p:sldId id="299" r:id="rId26"/>
    <p:sldId id="300" r:id="rId27"/>
    <p:sldId id="301" r:id="rId28"/>
    <p:sldId id="302" r:id="rId29"/>
    <p:sldId id="303" r:id="rId30"/>
    <p:sldId id="316" r:id="rId31"/>
    <p:sldId id="304" r:id="rId32"/>
    <p:sldId id="305" r:id="rId33"/>
    <p:sldId id="306" r:id="rId34"/>
    <p:sldId id="307" r:id="rId35"/>
    <p:sldId id="279" r:id="rId36"/>
    <p:sldId id="315" r:id="rId37"/>
    <p:sldId id="280" r:id="rId38"/>
    <p:sldId id="281" r:id="rId39"/>
    <p:sldId id="282" r:id="rId40"/>
    <p:sldId id="262" r:id="rId41"/>
  </p:sldIdLst>
  <p:sldSz cx="18288000" cy="10287000"/>
  <p:notesSz cx="6858000" cy="9144000"/>
  <p:embeddedFontLst>
    <p:embeddedFont>
      <p:font typeface="Calibri" panose="020F0502020204030204" pitchFamily="34" charset="0"/>
      <p:regular r:id="rId43"/>
      <p:bold r:id="rId44"/>
      <p:italic r:id="rId45"/>
      <p:boldItalic r:id="rId46"/>
    </p:embeddedFont>
    <p:embeddedFont>
      <p:font typeface="Poppins" panose="020B0604020202020204" charset="0"/>
      <p:regular r:id="rId47"/>
    </p:embeddedFont>
    <p:embeddedFont>
      <p:font typeface="Poppins Bold" panose="020B0604020202020204" charset="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21"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30E55F-E1AC-460D-8397-0990186CEAB1}" type="datetimeFigureOut">
              <a:rPr lang="en-US" smtClean="0"/>
              <a:t>2/29/2024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471F1-3566-4960-A788-EED2F11E0B8C}" type="slidenum">
              <a:rPr lang="en-US" smtClean="0"/>
              <a:t>‹#›</a:t>
            </a:fld>
            <a:endParaRPr lang="en-US" dirty="0"/>
          </a:p>
        </p:txBody>
      </p:sp>
    </p:spTree>
    <p:extLst>
      <p:ext uri="{BB962C8B-B14F-4D97-AF65-F5344CB8AC3E}">
        <p14:creationId xmlns:p14="http://schemas.microsoft.com/office/powerpoint/2010/main" val="393701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3</a:t>
            </a:fld>
            <a:endParaRPr lang="en-US" dirty="0"/>
          </a:p>
        </p:txBody>
      </p:sp>
    </p:spTree>
    <p:extLst>
      <p:ext uri="{BB962C8B-B14F-4D97-AF65-F5344CB8AC3E}">
        <p14:creationId xmlns:p14="http://schemas.microsoft.com/office/powerpoint/2010/main" val="2177687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4</a:t>
            </a:fld>
            <a:endParaRPr lang="en-US" dirty="0"/>
          </a:p>
        </p:txBody>
      </p:sp>
    </p:spTree>
    <p:extLst>
      <p:ext uri="{BB962C8B-B14F-4D97-AF65-F5344CB8AC3E}">
        <p14:creationId xmlns:p14="http://schemas.microsoft.com/office/powerpoint/2010/main" val="61262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7</a:t>
            </a:fld>
            <a:endParaRPr lang="en-US" dirty="0"/>
          </a:p>
        </p:txBody>
      </p:sp>
    </p:spTree>
    <p:extLst>
      <p:ext uri="{BB962C8B-B14F-4D97-AF65-F5344CB8AC3E}">
        <p14:creationId xmlns:p14="http://schemas.microsoft.com/office/powerpoint/2010/main" val="40299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8</a:t>
            </a:fld>
            <a:endParaRPr lang="en-US" dirty="0"/>
          </a:p>
        </p:txBody>
      </p:sp>
    </p:spTree>
    <p:extLst>
      <p:ext uri="{BB962C8B-B14F-4D97-AF65-F5344CB8AC3E}">
        <p14:creationId xmlns:p14="http://schemas.microsoft.com/office/powerpoint/2010/main" val="3275252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9</a:t>
            </a:fld>
            <a:endParaRPr lang="en-US" dirty="0"/>
          </a:p>
        </p:txBody>
      </p:sp>
    </p:spTree>
    <p:extLst>
      <p:ext uri="{BB962C8B-B14F-4D97-AF65-F5344CB8AC3E}">
        <p14:creationId xmlns:p14="http://schemas.microsoft.com/office/powerpoint/2010/main" val="3065310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10</a:t>
            </a:fld>
            <a:endParaRPr lang="en-US" dirty="0"/>
          </a:p>
        </p:txBody>
      </p:sp>
    </p:spTree>
    <p:extLst>
      <p:ext uri="{BB962C8B-B14F-4D97-AF65-F5344CB8AC3E}">
        <p14:creationId xmlns:p14="http://schemas.microsoft.com/office/powerpoint/2010/main" val="1758124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11</a:t>
            </a:fld>
            <a:endParaRPr lang="en-US" dirty="0"/>
          </a:p>
        </p:txBody>
      </p:sp>
    </p:spTree>
    <p:extLst>
      <p:ext uri="{BB962C8B-B14F-4D97-AF65-F5344CB8AC3E}">
        <p14:creationId xmlns:p14="http://schemas.microsoft.com/office/powerpoint/2010/main" val="371139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12</a:t>
            </a:fld>
            <a:endParaRPr lang="en-US" dirty="0"/>
          </a:p>
        </p:txBody>
      </p:sp>
    </p:spTree>
    <p:extLst>
      <p:ext uri="{BB962C8B-B14F-4D97-AF65-F5344CB8AC3E}">
        <p14:creationId xmlns:p14="http://schemas.microsoft.com/office/powerpoint/2010/main" val="896317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t>
            </a:r>
            <a:endParaRPr lang="en-US" dirty="0"/>
          </a:p>
        </p:txBody>
      </p:sp>
      <p:sp>
        <p:nvSpPr>
          <p:cNvPr id="4" name="Slide Number Placeholder 3"/>
          <p:cNvSpPr>
            <a:spLocks noGrp="1"/>
          </p:cNvSpPr>
          <p:nvPr>
            <p:ph type="sldNum" sz="quarter" idx="10"/>
          </p:nvPr>
        </p:nvSpPr>
        <p:spPr/>
        <p:txBody>
          <a:bodyPr/>
          <a:lstStyle/>
          <a:p>
            <a:fld id="{BAD471F1-3566-4960-A788-EED2F11E0B8C}" type="slidenum">
              <a:rPr lang="en-US" smtClean="0"/>
              <a:t>18</a:t>
            </a:fld>
            <a:endParaRPr lang="en-US" dirty="0"/>
          </a:p>
        </p:txBody>
      </p:sp>
    </p:spTree>
    <p:extLst>
      <p:ext uri="{BB962C8B-B14F-4D97-AF65-F5344CB8AC3E}">
        <p14:creationId xmlns:p14="http://schemas.microsoft.com/office/powerpoint/2010/main" val="320163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2/29/2024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0.sv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0.sv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2.emf"/><Relationship Id="rId4" Type="http://schemas.openxmlformats.org/officeDocument/2006/relationships/image" Target="../media/image21.emf"/></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10.svg"/></Relationships>
</file>

<file path=ppt/slides/_rels/slide20.xml.rels><?xml version="1.0" encoding="UTF-8" standalone="yes"?>
<Relationships xmlns="http://schemas.openxmlformats.org/package/2006/relationships"><Relationship Id="rId7" Type="http://schemas.openxmlformats.org/officeDocument/2006/relationships/image" Target="../media/image2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10.svg"/></Relationships>
</file>

<file path=ppt/slides/_rels/slide21.xml.rels><?xml version="1.0" encoding="UTF-8" standalone="yes"?>
<Relationships xmlns="http://schemas.openxmlformats.org/package/2006/relationships"><Relationship Id="rId7" Type="http://schemas.openxmlformats.org/officeDocument/2006/relationships/image" Target="../media/image27.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10.sv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10.sv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0.sv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10.sv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0.sv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10.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10.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10.sv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10.sv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10.sv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10.sv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0.sv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svg"/></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sv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sv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sv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9596" y="3033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rot="-1801313">
            <a:off x="7944412" y="2305957"/>
            <a:ext cx="1603602" cy="9552208"/>
            <a:chOff x="0" y="0"/>
            <a:chExt cx="422348" cy="2515808"/>
          </a:xfrm>
        </p:grpSpPr>
        <p:sp>
          <p:nvSpPr>
            <p:cNvPr id="4" name="Freeform 4"/>
            <p:cNvSpPr/>
            <p:nvPr/>
          </p:nvSpPr>
          <p:spPr>
            <a:xfrm>
              <a:off x="0" y="0"/>
              <a:ext cx="422348" cy="2515808"/>
            </a:xfrm>
            <a:custGeom>
              <a:avLst/>
              <a:gdLst/>
              <a:ahLst/>
              <a:cxnLst/>
              <a:rect l="l" t="t" r="r" b="b"/>
              <a:pathLst>
                <a:path w="422348" h="2515808">
                  <a:moveTo>
                    <a:pt x="0" y="0"/>
                  </a:moveTo>
                  <a:lnTo>
                    <a:pt x="422348" y="0"/>
                  </a:lnTo>
                  <a:lnTo>
                    <a:pt x="422348" y="2515808"/>
                  </a:lnTo>
                  <a:lnTo>
                    <a:pt x="0" y="2515808"/>
                  </a:lnTo>
                  <a:close/>
                </a:path>
              </a:pathLst>
            </a:custGeom>
            <a:solidFill>
              <a:srgbClr val="FFBC00"/>
            </a:solidFill>
          </p:spPr>
        </p:sp>
        <p:sp>
          <p:nvSpPr>
            <p:cNvPr id="5" name="TextBox 5"/>
            <p:cNvSpPr txBox="1"/>
            <p:nvPr/>
          </p:nvSpPr>
          <p:spPr>
            <a:xfrm>
              <a:off x="0" y="-57150"/>
              <a:ext cx="422348" cy="2572958"/>
            </a:xfrm>
            <a:prstGeom prst="rect">
              <a:avLst/>
            </a:prstGeom>
          </p:spPr>
          <p:txBody>
            <a:bodyPr lIns="50800" tIns="50800" rIns="50800" bIns="50800" rtlCol="0" anchor="ctr"/>
            <a:lstStyle/>
            <a:p>
              <a:pPr algn="ctr">
                <a:lnSpc>
                  <a:spcPts val="2659"/>
                </a:lnSpc>
              </a:pPr>
              <a:endParaRPr dirty="0"/>
            </a:p>
          </p:txBody>
        </p:sp>
      </p:grpSp>
      <p:grpSp>
        <p:nvGrpSpPr>
          <p:cNvPr id="6" name="Group 6"/>
          <p:cNvGrpSpPr/>
          <p:nvPr/>
        </p:nvGrpSpPr>
        <p:grpSpPr>
          <a:xfrm rot="-1801313">
            <a:off x="16945529" y="-2609268"/>
            <a:ext cx="1603602" cy="5817991"/>
            <a:chOff x="0" y="0"/>
            <a:chExt cx="422348" cy="1532310"/>
          </a:xfrm>
        </p:grpSpPr>
        <p:sp>
          <p:nvSpPr>
            <p:cNvPr id="7" name="Freeform 7"/>
            <p:cNvSpPr/>
            <p:nvPr/>
          </p:nvSpPr>
          <p:spPr>
            <a:xfrm>
              <a:off x="0" y="0"/>
              <a:ext cx="422348" cy="1532310"/>
            </a:xfrm>
            <a:custGeom>
              <a:avLst/>
              <a:gdLst/>
              <a:ahLst/>
              <a:cxnLst/>
              <a:rect l="l" t="t" r="r" b="b"/>
              <a:pathLst>
                <a:path w="422348" h="1532310">
                  <a:moveTo>
                    <a:pt x="0" y="0"/>
                  </a:moveTo>
                  <a:lnTo>
                    <a:pt x="422348" y="0"/>
                  </a:lnTo>
                  <a:lnTo>
                    <a:pt x="422348" y="1532310"/>
                  </a:lnTo>
                  <a:lnTo>
                    <a:pt x="0" y="1532310"/>
                  </a:lnTo>
                  <a:close/>
                </a:path>
              </a:pathLst>
            </a:custGeom>
            <a:solidFill>
              <a:srgbClr val="FFBC00"/>
            </a:solidFill>
          </p:spPr>
        </p:sp>
        <p:sp>
          <p:nvSpPr>
            <p:cNvPr id="8" name="TextBox 8"/>
            <p:cNvSpPr txBox="1"/>
            <p:nvPr/>
          </p:nvSpPr>
          <p:spPr>
            <a:xfrm>
              <a:off x="0" y="-57150"/>
              <a:ext cx="422348" cy="1589460"/>
            </a:xfrm>
            <a:prstGeom prst="rect">
              <a:avLst/>
            </a:prstGeom>
          </p:spPr>
          <p:txBody>
            <a:bodyPr lIns="50800" tIns="50800" rIns="50800" bIns="50800" rtlCol="0" anchor="ctr"/>
            <a:lstStyle/>
            <a:p>
              <a:pPr algn="ctr">
                <a:lnSpc>
                  <a:spcPts val="2659"/>
                </a:lnSpc>
              </a:pPr>
              <a:endParaRPr dirty="0"/>
            </a:p>
          </p:txBody>
        </p:sp>
      </p:grpSp>
      <p:grpSp>
        <p:nvGrpSpPr>
          <p:cNvPr id="9" name="Group 9"/>
          <p:cNvGrpSpPr/>
          <p:nvPr/>
        </p:nvGrpSpPr>
        <p:grpSpPr>
          <a:xfrm rot="1323218">
            <a:off x="-1146094" y="-1919388"/>
            <a:ext cx="9329309" cy="13900928"/>
            <a:chOff x="0" y="0"/>
            <a:chExt cx="640025" cy="953655"/>
          </a:xfrm>
        </p:grpSpPr>
        <p:sp>
          <p:nvSpPr>
            <p:cNvPr id="10" name="Freeform 10"/>
            <p:cNvSpPr/>
            <p:nvPr/>
          </p:nvSpPr>
          <p:spPr>
            <a:xfrm>
              <a:off x="0" y="0"/>
              <a:ext cx="640025" cy="953655"/>
            </a:xfrm>
            <a:custGeom>
              <a:avLst/>
              <a:gdLst/>
              <a:ahLst/>
              <a:cxnLst/>
              <a:rect l="l" t="t" r="r" b="b"/>
              <a:pathLst>
                <a:path w="640025" h="953655">
                  <a:moveTo>
                    <a:pt x="203200" y="0"/>
                  </a:moveTo>
                  <a:lnTo>
                    <a:pt x="640025" y="0"/>
                  </a:lnTo>
                  <a:lnTo>
                    <a:pt x="436825" y="953655"/>
                  </a:lnTo>
                  <a:lnTo>
                    <a:pt x="0" y="953655"/>
                  </a:lnTo>
                  <a:lnTo>
                    <a:pt x="203200" y="0"/>
                  </a:lnTo>
                  <a:close/>
                </a:path>
              </a:pathLst>
            </a:custGeom>
            <a:solidFill>
              <a:srgbClr val="003D60"/>
            </a:solidFill>
          </p:spPr>
        </p:sp>
        <p:sp>
          <p:nvSpPr>
            <p:cNvPr id="11" name="TextBox 11"/>
            <p:cNvSpPr txBox="1"/>
            <p:nvPr/>
          </p:nvSpPr>
          <p:spPr>
            <a:xfrm>
              <a:off x="101600" y="-57150"/>
              <a:ext cx="436825" cy="1010805"/>
            </a:xfrm>
            <a:prstGeom prst="rect">
              <a:avLst/>
            </a:prstGeom>
          </p:spPr>
          <p:txBody>
            <a:bodyPr lIns="50800" tIns="50800" rIns="50800" bIns="50800" rtlCol="0" anchor="ctr"/>
            <a:lstStyle/>
            <a:p>
              <a:pPr algn="ctr">
                <a:lnSpc>
                  <a:spcPts val="2659"/>
                </a:lnSpc>
              </a:pPr>
              <a:endParaRPr dirty="0"/>
            </a:p>
          </p:txBody>
        </p:sp>
      </p:grpSp>
      <p:sp>
        <p:nvSpPr>
          <p:cNvPr id="12" name="Freeform 12"/>
          <p:cNvSpPr/>
          <p:nvPr/>
        </p:nvSpPr>
        <p:spPr>
          <a:xfrm rot="-7234808">
            <a:off x="-545671" y="4853273"/>
            <a:ext cx="16230600" cy="770953"/>
          </a:xfrm>
          <a:custGeom>
            <a:avLst/>
            <a:gdLst/>
            <a:ahLst/>
            <a:cxnLst/>
            <a:rect l="l" t="t" r="r" b="b"/>
            <a:pathLst>
              <a:path w="16230600" h="770953">
                <a:moveTo>
                  <a:pt x="0" y="0"/>
                </a:moveTo>
                <a:lnTo>
                  <a:pt x="16230600" y="0"/>
                </a:lnTo>
                <a:lnTo>
                  <a:pt x="16230600" y="770954"/>
                </a:lnTo>
                <a:lnTo>
                  <a:pt x="0" y="770954"/>
                </a:lnTo>
                <a:lnTo>
                  <a:pt x="0" y="0"/>
                </a:lnTo>
                <a:close/>
              </a:path>
            </a:pathLst>
          </a:custGeom>
          <a:blipFill>
            <a:blip r:embed="rId3">
              <a:alphaModFix amt="52000"/>
            </a:blip>
            <a:stretch>
              <a:fillRect/>
            </a:stretch>
          </a:blipFill>
        </p:spPr>
      </p:sp>
      <p:grpSp>
        <p:nvGrpSpPr>
          <p:cNvPr id="15" name="Group 15"/>
          <p:cNvGrpSpPr/>
          <p:nvPr/>
        </p:nvGrpSpPr>
        <p:grpSpPr>
          <a:xfrm rot="-1801313">
            <a:off x="-1212776" y="4436810"/>
            <a:ext cx="2060748" cy="7889373"/>
            <a:chOff x="0" y="0"/>
            <a:chExt cx="542748" cy="2077860"/>
          </a:xfrm>
        </p:grpSpPr>
        <p:sp>
          <p:nvSpPr>
            <p:cNvPr id="16" name="Freeform 16"/>
            <p:cNvSpPr/>
            <p:nvPr/>
          </p:nvSpPr>
          <p:spPr>
            <a:xfrm>
              <a:off x="0" y="0"/>
              <a:ext cx="542748" cy="2077860"/>
            </a:xfrm>
            <a:custGeom>
              <a:avLst/>
              <a:gdLst/>
              <a:ahLst/>
              <a:cxnLst/>
              <a:rect l="l" t="t" r="r" b="b"/>
              <a:pathLst>
                <a:path w="542748" h="2077860">
                  <a:moveTo>
                    <a:pt x="0" y="0"/>
                  </a:moveTo>
                  <a:lnTo>
                    <a:pt x="542748" y="0"/>
                  </a:lnTo>
                  <a:lnTo>
                    <a:pt x="542748" y="2077860"/>
                  </a:lnTo>
                  <a:lnTo>
                    <a:pt x="0" y="2077860"/>
                  </a:lnTo>
                  <a:close/>
                </a:path>
              </a:pathLst>
            </a:custGeom>
            <a:solidFill>
              <a:srgbClr val="003D60"/>
            </a:solidFill>
          </p:spPr>
        </p:sp>
        <p:sp>
          <p:nvSpPr>
            <p:cNvPr id="17" name="TextBox 17"/>
            <p:cNvSpPr txBox="1"/>
            <p:nvPr/>
          </p:nvSpPr>
          <p:spPr>
            <a:xfrm>
              <a:off x="0" y="-57150"/>
              <a:ext cx="542748" cy="2135010"/>
            </a:xfrm>
            <a:prstGeom prst="rect">
              <a:avLst/>
            </a:prstGeom>
          </p:spPr>
          <p:txBody>
            <a:bodyPr lIns="50800" tIns="50800" rIns="50800" bIns="50800" rtlCol="0" anchor="ctr"/>
            <a:lstStyle/>
            <a:p>
              <a:pPr algn="ctr">
                <a:lnSpc>
                  <a:spcPts val="2659"/>
                </a:lnSpc>
              </a:pPr>
              <a:endParaRPr dirty="0"/>
            </a:p>
          </p:txBody>
        </p:sp>
      </p:grpSp>
      <p:sp>
        <p:nvSpPr>
          <p:cNvPr id="18" name="Freeform 18"/>
          <p:cNvSpPr/>
          <p:nvPr/>
        </p:nvSpPr>
        <p:spPr>
          <a:xfrm rot="-3131416">
            <a:off x="-4080653" y="2120145"/>
            <a:ext cx="12285790" cy="583575"/>
          </a:xfrm>
          <a:custGeom>
            <a:avLst/>
            <a:gdLst/>
            <a:ahLst/>
            <a:cxnLst/>
            <a:rect l="l" t="t" r="r" b="b"/>
            <a:pathLst>
              <a:path w="12285790" h="583575">
                <a:moveTo>
                  <a:pt x="0" y="0"/>
                </a:moveTo>
                <a:lnTo>
                  <a:pt x="12285790" y="0"/>
                </a:lnTo>
                <a:lnTo>
                  <a:pt x="12285790" y="583575"/>
                </a:lnTo>
                <a:lnTo>
                  <a:pt x="0" y="583575"/>
                </a:lnTo>
                <a:lnTo>
                  <a:pt x="0" y="0"/>
                </a:lnTo>
                <a:close/>
              </a:path>
            </a:pathLst>
          </a:custGeom>
          <a:blipFill>
            <a:blip r:embed="rId3">
              <a:alphaModFix amt="65000"/>
            </a:blip>
            <a:stretch>
              <a:fillRect/>
            </a:stretch>
          </a:blipFill>
        </p:spPr>
      </p:sp>
      <p:grpSp>
        <p:nvGrpSpPr>
          <p:cNvPr id="19" name="Group 19"/>
          <p:cNvGrpSpPr/>
          <p:nvPr/>
        </p:nvGrpSpPr>
        <p:grpSpPr>
          <a:xfrm rot="2252587">
            <a:off x="-1105257" y="-2239445"/>
            <a:ext cx="3086100" cy="7845843"/>
            <a:chOff x="0" y="0"/>
            <a:chExt cx="812800" cy="2066395"/>
          </a:xfrm>
        </p:grpSpPr>
        <p:sp>
          <p:nvSpPr>
            <p:cNvPr id="20" name="Freeform 20"/>
            <p:cNvSpPr/>
            <p:nvPr/>
          </p:nvSpPr>
          <p:spPr>
            <a:xfrm>
              <a:off x="0" y="0"/>
              <a:ext cx="812800" cy="2066395"/>
            </a:xfrm>
            <a:custGeom>
              <a:avLst/>
              <a:gdLst/>
              <a:ahLst/>
              <a:cxnLst/>
              <a:rect l="l" t="t" r="r" b="b"/>
              <a:pathLst>
                <a:path w="812800" h="2066395">
                  <a:moveTo>
                    <a:pt x="0" y="0"/>
                  </a:moveTo>
                  <a:lnTo>
                    <a:pt x="812800" y="0"/>
                  </a:lnTo>
                  <a:lnTo>
                    <a:pt x="812800" y="2066395"/>
                  </a:lnTo>
                  <a:lnTo>
                    <a:pt x="0" y="2066395"/>
                  </a:lnTo>
                  <a:close/>
                </a:path>
              </a:pathLst>
            </a:custGeom>
            <a:solidFill>
              <a:srgbClr val="FFBC00"/>
            </a:solidFill>
          </p:spPr>
        </p:sp>
        <p:sp>
          <p:nvSpPr>
            <p:cNvPr id="21" name="TextBox 21"/>
            <p:cNvSpPr txBox="1"/>
            <p:nvPr/>
          </p:nvSpPr>
          <p:spPr>
            <a:xfrm>
              <a:off x="0" y="-57150"/>
              <a:ext cx="812800" cy="2123545"/>
            </a:xfrm>
            <a:prstGeom prst="rect">
              <a:avLst/>
            </a:prstGeom>
          </p:spPr>
          <p:txBody>
            <a:bodyPr lIns="50800" tIns="50800" rIns="50800" bIns="50800" rtlCol="0" anchor="ctr"/>
            <a:lstStyle/>
            <a:p>
              <a:pPr algn="ctr">
                <a:lnSpc>
                  <a:spcPts val="2659"/>
                </a:lnSpc>
              </a:pPr>
              <a:endParaRPr dirty="0"/>
            </a:p>
          </p:txBody>
        </p:sp>
      </p:grpSp>
      <p:sp>
        <p:nvSpPr>
          <p:cNvPr id="28" name="Rectangle 27"/>
          <p:cNvSpPr/>
          <p:nvPr/>
        </p:nvSpPr>
        <p:spPr>
          <a:xfrm>
            <a:off x="9370694" y="3276332"/>
            <a:ext cx="9144000" cy="1077218"/>
          </a:xfrm>
          <a:prstGeom prst="rect">
            <a:avLst/>
          </a:prstGeom>
        </p:spPr>
        <p:txBody>
          <a:bodyPr>
            <a:spAutoFit/>
          </a:bodyPr>
          <a:lstStyle/>
          <a:p>
            <a:pPr algn="just"/>
            <a:r>
              <a:rPr lang="en-US" sz="3200" b="1" dirty="0">
                <a:solidFill>
                  <a:srgbClr val="C00000"/>
                </a:solidFill>
                <a:latin typeface="Times New Roman" panose="02020603050405020304" pitchFamily="18" charset="0"/>
                <a:cs typeface="Times New Roman" panose="02020603050405020304" pitchFamily="18" charset="0"/>
              </a:rPr>
              <a:t>AUTISM SPECTRUM DISORDER DETECTION</a:t>
            </a:r>
          </a:p>
          <a:p>
            <a:pPr algn="just"/>
            <a:r>
              <a:rPr lang="en-US" sz="3200" b="1" dirty="0">
                <a:solidFill>
                  <a:srgbClr val="C00000"/>
                </a:solidFill>
                <a:latin typeface="Times New Roman" panose="02020603050405020304" pitchFamily="18" charset="0"/>
                <a:cs typeface="Times New Roman" panose="02020603050405020304" pitchFamily="18" charset="0"/>
              </a:rPr>
              <a:t>                  USING MACHINE LEARNING</a:t>
            </a:r>
          </a:p>
        </p:txBody>
      </p:sp>
      <p:sp>
        <p:nvSpPr>
          <p:cNvPr id="30" name="Rectangle 29"/>
          <p:cNvSpPr/>
          <p:nvPr/>
        </p:nvSpPr>
        <p:spPr>
          <a:xfrm>
            <a:off x="9783596" y="5808462"/>
            <a:ext cx="9144000" cy="923330"/>
          </a:xfrm>
          <a:prstGeom prst="rect">
            <a:avLst/>
          </a:prstGeom>
        </p:spPr>
        <p:txBody>
          <a:bodyPr>
            <a:spAutoFit/>
          </a:bodyPr>
          <a:lstStyle/>
          <a:p>
            <a:r>
              <a:rPr lang="en-US" b="1" dirty="0">
                <a:solidFill>
                  <a:srgbClr val="0070C0"/>
                </a:solidFill>
                <a:latin typeface="Times New Roman" panose="02020603050405020304" pitchFamily="18" charset="0"/>
                <a:cs typeface="Times New Roman" panose="02020603050405020304" pitchFamily="18" charset="0"/>
              </a:rPr>
              <a:t>PRESENTED BY</a:t>
            </a:r>
          </a:p>
          <a:p>
            <a:r>
              <a:rPr lang="en-US" b="1" dirty="0">
                <a:solidFill>
                  <a:srgbClr val="0070C0"/>
                </a:solidFill>
                <a:latin typeface="Times New Roman" panose="02020603050405020304" pitchFamily="18" charset="0"/>
                <a:cs typeface="Times New Roman" panose="02020603050405020304" pitchFamily="18" charset="0"/>
              </a:rPr>
              <a:t>NAME:</a:t>
            </a:r>
          </a:p>
          <a:p>
            <a:r>
              <a:rPr lang="en-US" b="1" dirty="0">
                <a:solidFill>
                  <a:srgbClr val="0070C0"/>
                </a:solidFill>
                <a:latin typeface="Times New Roman" panose="02020603050405020304" pitchFamily="18" charset="0"/>
                <a:cs typeface="Times New Roman" panose="02020603050405020304" pitchFamily="18" charset="0"/>
              </a:rPr>
              <a:t>USN:</a:t>
            </a:r>
          </a:p>
        </p:txBody>
      </p:sp>
      <p:sp>
        <p:nvSpPr>
          <p:cNvPr id="31" name="Rectangle 30"/>
          <p:cNvSpPr/>
          <p:nvPr/>
        </p:nvSpPr>
        <p:spPr>
          <a:xfrm>
            <a:off x="14542880" y="8439905"/>
            <a:ext cx="9144000" cy="923330"/>
          </a:xfrm>
          <a:prstGeom prst="rect">
            <a:avLst/>
          </a:prstGeom>
        </p:spPr>
        <p:txBody>
          <a:bodyPr>
            <a:spAutoFit/>
          </a:bodyPr>
          <a:lstStyle/>
          <a:p>
            <a:r>
              <a:rPr lang="en-US" b="1" dirty="0">
                <a:latin typeface="Times New Roman" panose="02020603050405020304" pitchFamily="18" charset="0"/>
                <a:cs typeface="Times New Roman" panose="02020603050405020304" pitchFamily="18" charset="0"/>
              </a:rPr>
              <a:t>UNDER THE GUIDANCE OF</a:t>
            </a:r>
          </a:p>
          <a:p>
            <a:r>
              <a:rPr lang="en-US" b="1" dirty="0">
                <a:latin typeface="Times New Roman" panose="02020603050405020304" pitchFamily="18" charset="0"/>
                <a:cs typeface="Times New Roman" panose="02020603050405020304" pitchFamily="18" charset="0"/>
              </a:rPr>
              <a:t>PROF: </a:t>
            </a:r>
          </a:p>
          <a:p>
            <a:r>
              <a:rPr lang="en-US" b="1" dirty="0">
                <a:latin typeface="Times New Roman" panose="02020603050405020304" pitchFamily="18" charset="0"/>
                <a:cs typeface="Times New Roman" panose="02020603050405020304" pitchFamily="18" charset="0"/>
              </a:rPr>
              <a:t>DEPT OF CSE</a:t>
            </a:r>
          </a:p>
        </p:txBody>
      </p:sp>
      <p:pic>
        <p:nvPicPr>
          <p:cNvPr id="3074" name="Picture 2" descr="What to Look for in Child Care for Autistic Childre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1093135">
            <a:off x="3822023" y="-185979"/>
            <a:ext cx="4864976" cy="324331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nsights Into Autis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199968">
            <a:off x="1261207" y="3712560"/>
            <a:ext cx="4918989" cy="277431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What Are Early Intervention Strategies for Autism? | Dream Big Children's  Cent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1121676">
            <a:off x="-1063424" y="7212941"/>
            <a:ext cx="4477268" cy="2986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07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448441" y="8568922"/>
            <a:ext cx="7070549" cy="689378"/>
          </a:xfrm>
          <a:custGeom>
            <a:avLst/>
            <a:gdLst/>
            <a:ahLst/>
            <a:cxnLst/>
            <a:rect l="l" t="t" r="r" b="b"/>
            <a:pathLst>
              <a:path w="7070549" h="689378">
                <a:moveTo>
                  <a:pt x="0" y="0"/>
                </a:moveTo>
                <a:lnTo>
                  <a:pt x="7070548" y="0"/>
                </a:lnTo>
                <a:lnTo>
                  <a:pt x="7070548" y="689378"/>
                </a:lnTo>
                <a:lnTo>
                  <a:pt x="0" y="689378"/>
                </a:lnTo>
                <a:lnTo>
                  <a:pt x="0" y="0"/>
                </a:lnTo>
                <a:close/>
              </a:path>
            </a:pathLst>
          </a:custGeom>
          <a:blipFill>
            <a:blip r:embed="rId3"/>
            <a:stretch>
              <a:fillRect/>
            </a:stretch>
          </a:blipFill>
        </p:spPr>
      </p:sp>
      <p:sp>
        <p:nvSpPr>
          <p:cNvPr id="4" name="Freeform 4"/>
          <p:cNvSpPr/>
          <p:nvPr/>
        </p:nvSpPr>
        <p:spPr>
          <a:xfrm>
            <a:off x="9666376" y="8568922"/>
            <a:ext cx="7070549" cy="689378"/>
          </a:xfrm>
          <a:custGeom>
            <a:avLst/>
            <a:gdLst/>
            <a:ahLst/>
            <a:cxnLst/>
            <a:rect l="l" t="t" r="r" b="b"/>
            <a:pathLst>
              <a:path w="7070549" h="689378">
                <a:moveTo>
                  <a:pt x="0" y="0"/>
                </a:moveTo>
                <a:lnTo>
                  <a:pt x="7070548" y="0"/>
                </a:lnTo>
                <a:lnTo>
                  <a:pt x="7070548" y="689378"/>
                </a:lnTo>
                <a:lnTo>
                  <a:pt x="0" y="689378"/>
                </a:lnTo>
                <a:lnTo>
                  <a:pt x="0" y="0"/>
                </a:lnTo>
                <a:close/>
              </a:path>
            </a:pathLst>
          </a:custGeom>
          <a:blipFill>
            <a:blip r:embed="rId3"/>
            <a:stretch>
              <a:fillRect/>
            </a:stretch>
          </a:blipFill>
        </p:spPr>
      </p:sp>
      <p:sp>
        <p:nvSpPr>
          <p:cNvPr id="5" name="Freeform 5"/>
          <p:cNvSpPr/>
          <p:nvPr/>
        </p:nvSpPr>
        <p:spPr>
          <a:xfrm>
            <a:off x="5608726" y="2676524"/>
            <a:ext cx="7070549" cy="689378"/>
          </a:xfrm>
          <a:custGeom>
            <a:avLst/>
            <a:gdLst/>
            <a:ahLst/>
            <a:cxnLst/>
            <a:rect l="l" t="t" r="r" b="b"/>
            <a:pathLst>
              <a:path w="7070549" h="689378">
                <a:moveTo>
                  <a:pt x="0" y="0"/>
                </a:moveTo>
                <a:lnTo>
                  <a:pt x="7070548" y="0"/>
                </a:lnTo>
                <a:lnTo>
                  <a:pt x="7070548" y="689378"/>
                </a:lnTo>
                <a:lnTo>
                  <a:pt x="0" y="689378"/>
                </a:lnTo>
                <a:lnTo>
                  <a:pt x="0" y="0"/>
                </a:lnTo>
                <a:close/>
              </a:path>
            </a:pathLst>
          </a:custGeom>
          <a:blipFill>
            <a:blip r:embed="rId3"/>
            <a:stretch>
              <a:fillRect/>
            </a:stretch>
          </a:blipFill>
        </p:spPr>
      </p:sp>
      <p:grpSp>
        <p:nvGrpSpPr>
          <p:cNvPr id="6" name="Group 6"/>
          <p:cNvGrpSpPr/>
          <p:nvPr/>
        </p:nvGrpSpPr>
        <p:grpSpPr>
          <a:xfrm>
            <a:off x="1186778" y="4267883"/>
            <a:ext cx="7799144" cy="4360276"/>
            <a:chOff x="0" y="0"/>
            <a:chExt cx="2054096" cy="1148385"/>
          </a:xfrm>
        </p:grpSpPr>
        <p:sp>
          <p:nvSpPr>
            <p:cNvPr id="7" name="Freeform 7"/>
            <p:cNvSpPr/>
            <p:nvPr/>
          </p:nvSpPr>
          <p:spPr>
            <a:xfrm>
              <a:off x="0" y="0"/>
              <a:ext cx="2054096" cy="1148385"/>
            </a:xfrm>
            <a:custGeom>
              <a:avLst/>
              <a:gdLst/>
              <a:ahLst/>
              <a:cxnLst/>
              <a:rect l="l" t="t" r="r" b="b"/>
              <a:pathLst>
                <a:path w="2054096" h="1148385">
                  <a:moveTo>
                    <a:pt x="24817" y="0"/>
                  </a:moveTo>
                  <a:lnTo>
                    <a:pt x="2029279" y="0"/>
                  </a:lnTo>
                  <a:cubicBezTo>
                    <a:pt x="2042985" y="0"/>
                    <a:pt x="2054096" y="11111"/>
                    <a:pt x="2054096" y="24817"/>
                  </a:cubicBezTo>
                  <a:lnTo>
                    <a:pt x="2054096" y="1123569"/>
                  </a:lnTo>
                  <a:cubicBezTo>
                    <a:pt x="2054096" y="1137275"/>
                    <a:pt x="2042985" y="1148385"/>
                    <a:pt x="2029279" y="1148385"/>
                  </a:cubicBezTo>
                  <a:lnTo>
                    <a:pt x="24817" y="1148385"/>
                  </a:lnTo>
                  <a:cubicBezTo>
                    <a:pt x="11111" y="1148385"/>
                    <a:pt x="0" y="1137275"/>
                    <a:pt x="0" y="1123569"/>
                  </a:cubicBezTo>
                  <a:lnTo>
                    <a:pt x="0" y="24817"/>
                  </a:lnTo>
                  <a:cubicBezTo>
                    <a:pt x="0" y="11111"/>
                    <a:pt x="11111" y="0"/>
                    <a:pt x="24817" y="0"/>
                  </a:cubicBezTo>
                  <a:close/>
                </a:path>
              </a:pathLst>
            </a:custGeom>
            <a:solidFill>
              <a:srgbClr val="FFBC00"/>
            </a:solidFill>
          </p:spPr>
        </p:sp>
        <p:sp>
          <p:nvSpPr>
            <p:cNvPr id="8" name="TextBox 8"/>
            <p:cNvSpPr txBox="1"/>
            <p:nvPr/>
          </p:nvSpPr>
          <p:spPr>
            <a:xfrm>
              <a:off x="0" y="-57150"/>
              <a:ext cx="2054096" cy="1205535"/>
            </a:xfrm>
            <a:prstGeom prst="rect">
              <a:avLst/>
            </a:prstGeom>
          </p:spPr>
          <p:txBody>
            <a:bodyPr lIns="50800" tIns="50800" rIns="50800" bIns="50800" rtlCol="0" anchor="ctr"/>
            <a:lstStyle/>
            <a:p>
              <a:pPr algn="ctr">
                <a:lnSpc>
                  <a:spcPts val="2659"/>
                </a:lnSpc>
              </a:pPr>
              <a:endParaRPr dirty="0"/>
            </a:p>
          </p:txBody>
        </p:sp>
      </p:grpSp>
      <p:grpSp>
        <p:nvGrpSpPr>
          <p:cNvPr id="9" name="Group 9"/>
          <p:cNvGrpSpPr/>
          <p:nvPr/>
        </p:nvGrpSpPr>
        <p:grpSpPr>
          <a:xfrm>
            <a:off x="9461819" y="4249849"/>
            <a:ext cx="7799144" cy="4360276"/>
            <a:chOff x="0" y="0"/>
            <a:chExt cx="2054096" cy="1148385"/>
          </a:xfrm>
        </p:grpSpPr>
        <p:sp>
          <p:nvSpPr>
            <p:cNvPr id="10" name="Freeform 10"/>
            <p:cNvSpPr/>
            <p:nvPr/>
          </p:nvSpPr>
          <p:spPr>
            <a:xfrm>
              <a:off x="0" y="0"/>
              <a:ext cx="2054096" cy="1148385"/>
            </a:xfrm>
            <a:custGeom>
              <a:avLst/>
              <a:gdLst/>
              <a:ahLst/>
              <a:cxnLst/>
              <a:rect l="l" t="t" r="r" b="b"/>
              <a:pathLst>
                <a:path w="2054096" h="1148385">
                  <a:moveTo>
                    <a:pt x="24817" y="0"/>
                  </a:moveTo>
                  <a:lnTo>
                    <a:pt x="2029279" y="0"/>
                  </a:lnTo>
                  <a:cubicBezTo>
                    <a:pt x="2042985" y="0"/>
                    <a:pt x="2054096" y="11111"/>
                    <a:pt x="2054096" y="24817"/>
                  </a:cubicBezTo>
                  <a:lnTo>
                    <a:pt x="2054096" y="1123569"/>
                  </a:lnTo>
                  <a:cubicBezTo>
                    <a:pt x="2054096" y="1137275"/>
                    <a:pt x="2042985" y="1148385"/>
                    <a:pt x="2029279" y="1148385"/>
                  </a:cubicBezTo>
                  <a:lnTo>
                    <a:pt x="24817" y="1148385"/>
                  </a:lnTo>
                  <a:cubicBezTo>
                    <a:pt x="11111" y="1148385"/>
                    <a:pt x="0" y="1137275"/>
                    <a:pt x="0" y="1123569"/>
                  </a:cubicBezTo>
                  <a:lnTo>
                    <a:pt x="0" y="24817"/>
                  </a:lnTo>
                  <a:cubicBezTo>
                    <a:pt x="0" y="11111"/>
                    <a:pt x="11111" y="0"/>
                    <a:pt x="24817" y="0"/>
                  </a:cubicBezTo>
                  <a:close/>
                </a:path>
              </a:pathLst>
            </a:custGeom>
            <a:solidFill>
              <a:srgbClr val="FFBC00"/>
            </a:solidFill>
          </p:spPr>
        </p:sp>
        <p:sp>
          <p:nvSpPr>
            <p:cNvPr id="11" name="TextBox 11"/>
            <p:cNvSpPr txBox="1"/>
            <p:nvPr/>
          </p:nvSpPr>
          <p:spPr>
            <a:xfrm>
              <a:off x="0" y="-57150"/>
              <a:ext cx="2054096" cy="1205535"/>
            </a:xfrm>
            <a:prstGeom prst="rect">
              <a:avLst/>
            </a:prstGeom>
          </p:spPr>
          <p:txBody>
            <a:bodyPr lIns="50800" tIns="50800" rIns="50800" bIns="50800" rtlCol="0" anchor="ctr"/>
            <a:lstStyle/>
            <a:p>
              <a:pPr algn="ctr">
                <a:lnSpc>
                  <a:spcPts val="2659"/>
                </a:lnSpc>
              </a:pPr>
              <a:endParaRPr dirty="0"/>
            </a:p>
          </p:txBody>
        </p:sp>
      </p:grpSp>
      <p:grpSp>
        <p:nvGrpSpPr>
          <p:cNvPr id="12" name="Group 12"/>
          <p:cNvGrpSpPr/>
          <p:nvPr/>
        </p:nvGrpSpPr>
        <p:grpSpPr>
          <a:xfrm>
            <a:off x="2402986" y="3834123"/>
            <a:ext cx="5366727" cy="946712"/>
            <a:chOff x="0" y="0"/>
            <a:chExt cx="1413459" cy="249340"/>
          </a:xfrm>
        </p:grpSpPr>
        <p:sp>
          <p:nvSpPr>
            <p:cNvPr id="13" name="Freeform 13"/>
            <p:cNvSpPr/>
            <p:nvPr/>
          </p:nvSpPr>
          <p:spPr>
            <a:xfrm>
              <a:off x="0" y="0"/>
              <a:ext cx="1413459" cy="249340"/>
            </a:xfrm>
            <a:custGeom>
              <a:avLst/>
              <a:gdLst/>
              <a:ahLst/>
              <a:cxnLst/>
              <a:rect l="l" t="t" r="r" b="b"/>
              <a:pathLst>
                <a:path w="1413459" h="249340">
                  <a:moveTo>
                    <a:pt x="0" y="0"/>
                  </a:moveTo>
                  <a:lnTo>
                    <a:pt x="1413459" y="0"/>
                  </a:lnTo>
                  <a:lnTo>
                    <a:pt x="1413459" y="249340"/>
                  </a:lnTo>
                  <a:lnTo>
                    <a:pt x="0" y="249340"/>
                  </a:lnTo>
                  <a:close/>
                </a:path>
              </a:pathLst>
            </a:custGeom>
            <a:solidFill>
              <a:srgbClr val="003D60"/>
            </a:solidFill>
          </p:spPr>
        </p:sp>
        <p:sp>
          <p:nvSpPr>
            <p:cNvPr id="14" name="TextBox 14"/>
            <p:cNvSpPr txBox="1"/>
            <p:nvPr/>
          </p:nvSpPr>
          <p:spPr>
            <a:xfrm>
              <a:off x="0" y="-57150"/>
              <a:ext cx="1413459" cy="306490"/>
            </a:xfrm>
            <a:prstGeom prst="rect">
              <a:avLst/>
            </a:prstGeom>
          </p:spPr>
          <p:txBody>
            <a:bodyPr lIns="50800" tIns="50800" rIns="50800" bIns="50800" rtlCol="0" anchor="ctr"/>
            <a:lstStyle/>
            <a:p>
              <a:pPr algn="ctr">
                <a:lnSpc>
                  <a:spcPts val="2659"/>
                </a:lnSpc>
              </a:pPr>
              <a:endParaRPr dirty="0"/>
            </a:p>
          </p:txBody>
        </p:sp>
      </p:grpSp>
      <p:grpSp>
        <p:nvGrpSpPr>
          <p:cNvPr id="15" name="Group 15"/>
          <p:cNvGrpSpPr/>
          <p:nvPr/>
        </p:nvGrpSpPr>
        <p:grpSpPr>
          <a:xfrm>
            <a:off x="10949132" y="3669711"/>
            <a:ext cx="5366727" cy="946712"/>
            <a:chOff x="0" y="0"/>
            <a:chExt cx="1413459" cy="249340"/>
          </a:xfrm>
        </p:grpSpPr>
        <p:sp>
          <p:nvSpPr>
            <p:cNvPr id="16" name="Freeform 16"/>
            <p:cNvSpPr/>
            <p:nvPr/>
          </p:nvSpPr>
          <p:spPr>
            <a:xfrm>
              <a:off x="0" y="0"/>
              <a:ext cx="1413459" cy="249340"/>
            </a:xfrm>
            <a:custGeom>
              <a:avLst/>
              <a:gdLst/>
              <a:ahLst/>
              <a:cxnLst/>
              <a:rect l="l" t="t" r="r" b="b"/>
              <a:pathLst>
                <a:path w="1413459" h="249340">
                  <a:moveTo>
                    <a:pt x="0" y="0"/>
                  </a:moveTo>
                  <a:lnTo>
                    <a:pt x="1413459" y="0"/>
                  </a:lnTo>
                  <a:lnTo>
                    <a:pt x="1413459" y="249340"/>
                  </a:lnTo>
                  <a:lnTo>
                    <a:pt x="0" y="249340"/>
                  </a:lnTo>
                  <a:close/>
                </a:path>
              </a:pathLst>
            </a:custGeom>
            <a:solidFill>
              <a:srgbClr val="003D60"/>
            </a:solidFill>
          </p:spPr>
        </p:sp>
        <p:sp>
          <p:nvSpPr>
            <p:cNvPr id="17" name="TextBox 17"/>
            <p:cNvSpPr txBox="1"/>
            <p:nvPr/>
          </p:nvSpPr>
          <p:spPr>
            <a:xfrm>
              <a:off x="0" y="-57150"/>
              <a:ext cx="1413459" cy="306490"/>
            </a:xfrm>
            <a:prstGeom prst="rect">
              <a:avLst/>
            </a:prstGeom>
          </p:spPr>
          <p:txBody>
            <a:bodyPr lIns="50800" tIns="50800" rIns="50800" bIns="50800" rtlCol="0" anchor="ctr"/>
            <a:lstStyle/>
            <a:p>
              <a:pPr algn="ctr">
                <a:lnSpc>
                  <a:spcPts val="2659"/>
                </a:lnSpc>
              </a:pPr>
              <a:endParaRPr dirty="0"/>
            </a:p>
          </p:txBody>
        </p:sp>
      </p:grpSp>
      <p:grpSp>
        <p:nvGrpSpPr>
          <p:cNvPr id="18" name="Group 18"/>
          <p:cNvGrpSpPr/>
          <p:nvPr/>
        </p:nvGrpSpPr>
        <p:grpSpPr>
          <a:xfrm>
            <a:off x="3891048" y="1250670"/>
            <a:ext cx="10505903" cy="1573325"/>
            <a:chOff x="0" y="0"/>
            <a:chExt cx="2766987" cy="414374"/>
          </a:xfrm>
        </p:grpSpPr>
        <p:sp>
          <p:nvSpPr>
            <p:cNvPr id="19" name="Freeform 19"/>
            <p:cNvSpPr/>
            <p:nvPr/>
          </p:nvSpPr>
          <p:spPr>
            <a:xfrm>
              <a:off x="0" y="0"/>
              <a:ext cx="2766987" cy="414374"/>
            </a:xfrm>
            <a:custGeom>
              <a:avLst/>
              <a:gdLst/>
              <a:ahLst/>
              <a:cxnLst/>
              <a:rect l="l" t="t" r="r" b="b"/>
              <a:pathLst>
                <a:path w="2766987" h="414374">
                  <a:moveTo>
                    <a:pt x="67059" y="0"/>
                  </a:moveTo>
                  <a:lnTo>
                    <a:pt x="2699928" y="0"/>
                  </a:lnTo>
                  <a:cubicBezTo>
                    <a:pt x="2736964" y="0"/>
                    <a:pt x="2766987" y="30023"/>
                    <a:pt x="2766987" y="67059"/>
                  </a:cubicBezTo>
                  <a:lnTo>
                    <a:pt x="2766987" y="347315"/>
                  </a:lnTo>
                  <a:cubicBezTo>
                    <a:pt x="2766987" y="384350"/>
                    <a:pt x="2736964" y="414374"/>
                    <a:pt x="2699928" y="414374"/>
                  </a:cubicBezTo>
                  <a:lnTo>
                    <a:pt x="67059" y="414374"/>
                  </a:lnTo>
                  <a:cubicBezTo>
                    <a:pt x="30023" y="414374"/>
                    <a:pt x="0" y="384350"/>
                    <a:pt x="0" y="347315"/>
                  </a:cubicBezTo>
                  <a:lnTo>
                    <a:pt x="0" y="67059"/>
                  </a:lnTo>
                  <a:cubicBezTo>
                    <a:pt x="0" y="30023"/>
                    <a:pt x="30023" y="0"/>
                    <a:pt x="67059" y="0"/>
                  </a:cubicBezTo>
                  <a:close/>
                </a:path>
              </a:pathLst>
            </a:custGeom>
            <a:solidFill>
              <a:srgbClr val="FFBC00"/>
            </a:solidFill>
          </p:spPr>
        </p:sp>
        <p:sp>
          <p:nvSpPr>
            <p:cNvPr id="20" name="TextBox 20"/>
            <p:cNvSpPr txBox="1"/>
            <p:nvPr/>
          </p:nvSpPr>
          <p:spPr>
            <a:xfrm>
              <a:off x="0" y="-57150"/>
              <a:ext cx="2766987" cy="471524"/>
            </a:xfrm>
            <a:prstGeom prst="rect">
              <a:avLst/>
            </a:prstGeom>
          </p:spPr>
          <p:txBody>
            <a:bodyPr lIns="50800" tIns="50800" rIns="50800" bIns="50800" rtlCol="0" anchor="ctr"/>
            <a:lstStyle/>
            <a:p>
              <a:pPr algn="ctr">
                <a:lnSpc>
                  <a:spcPts val="2659"/>
                </a:lnSpc>
              </a:pPr>
              <a:endParaRPr dirty="0"/>
            </a:p>
          </p:txBody>
        </p:sp>
      </p:grpSp>
      <p:sp>
        <p:nvSpPr>
          <p:cNvPr id="21" name="Freeform 21"/>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2" name="Freeform 22"/>
          <p:cNvSpPr/>
          <p:nvPr/>
        </p:nvSpPr>
        <p:spPr>
          <a:xfrm flipH="1">
            <a:off x="15701504" y="-690757"/>
            <a:ext cx="3840627" cy="5012238"/>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3" name="TextBox 23"/>
          <p:cNvSpPr txBox="1"/>
          <p:nvPr/>
        </p:nvSpPr>
        <p:spPr>
          <a:xfrm>
            <a:off x="5830894" y="1581864"/>
            <a:ext cx="5786731" cy="737253"/>
          </a:xfrm>
          <a:prstGeom prst="rect">
            <a:avLst/>
          </a:prstGeom>
        </p:spPr>
        <p:txBody>
          <a:bodyPr lIns="0" tIns="0" rIns="0" bIns="0" rtlCol="0" anchor="t">
            <a:spAutoFit/>
          </a:bodyPr>
          <a:lstStyle/>
          <a:p>
            <a:pPr algn="ctr">
              <a:lnSpc>
                <a:spcPts val="6299"/>
              </a:lnSpc>
            </a:pPr>
            <a:r>
              <a:rPr lang="en-US" sz="4500" dirty="0" smtClean="0">
                <a:solidFill>
                  <a:srgbClr val="000000"/>
                </a:solidFill>
                <a:latin typeface="League Spartan Bold"/>
              </a:rPr>
              <a:t>AGENDA</a:t>
            </a:r>
            <a:endParaRPr lang="en-US" sz="4500" dirty="0">
              <a:solidFill>
                <a:srgbClr val="000000"/>
              </a:solidFill>
              <a:latin typeface="League Spartan Bold"/>
            </a:endParaRPr>
          </a:p>
        </p:txBody>
      </p:sp>
      <p:sp>
        <p:nvSpPr>
          <p:cNvPr id="25" name="TextBox 25"/>
          <p:cNvSpPr txBox="1"/>
          <p:nvPr/>
        </p:nvSpPr>
        <p:spPr>
          <a:xfrm>
            <a:off x="2997630" y="5277959"/>
            <a:ext cx="3022170" cy="3167534"/>
          </a:xfrm>
          <a:prstGeom prst="rect">
            <a:avLst/>
          </a:prstGeom>
        </p:spPr>
        <p:txBody>
          <a:bodyPr wrap="square" lIns="0" tIns="0" rIns="0" bIns="0" rtlCol="0" anchor="t">
            <a:spAutoFit/>
          </a:bodyPr>
          <a:lstStyle/>
          <a:p>
            <a:pPr marL="285750" indent="-28575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ABSTRACT</a:t>
            </a:r>
          </a:p>
          <a:p>
            <a:pPr marL="285750" indent="-285750" algn="just">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INTRODUCTION</a:t>
            </a:r>
          </a:p>
          <a:p>
            <a:pPr marL="285750" indent="-28575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AIM</a:t>
            </a:r>
            <a:r>
              <a:rPr lang="en-US" b="1" dirty="0">
                <a:latin typeface="Times New Roman" panose="02020603050405020304" pitchFamily="18" charset="0"/>
                <a:cs typeface="Times New Roman" panose="02020603050405020304" pitchFamily="18" charset="0"/>
              </a:rPr>
              <a:t> &amp; OBJECTIVE</a:t>
            </a:r>
          </a:p>
          <a:p>
            <a:pPr marL="285750" indent="-28575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LITERATURE SURVEY</a:t>
            </a:r>
          </a:p>
          <a:p>
            <a:pPr marL="285750" indent="-285750" algn="just">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EXISTING SYSTEM</a:t>
            </a:r>
          </a:p>
          <a:p>
            <a:pPr marL="285750" indent="-285750">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PROPOSED SYSTEM</a:t>
            </a:r>
          </a:p>
          <a:p>
            <a:pPr algn="ctr">
              <a:lnSpc>
                <a:spcPts val="4899"/>
              </a:lnSpc>
              <a:spcBef>
                <a:spcPct val="0"/>
              </a:spcBef>
            </a:pPr>
            <a:endParaRPr lang="en-US" dirty="0">
              <a:latin typeface="Times New Roman" panose="02020603050405020304" pitchFamily="18" charset="0"/>
              <a:cs typeface="Times New Roman" panose="02020603050405020304" pitchFamily="18" charset="0"/>
            </a:endParaRPr>
          </a:p>
        </p:txBody>
      </p:sp>
      <p:sp>
        <p:nvSpPr>
          <p:cNvPr id="27" name="TextBox 27"/>
          <p:cNvSpPr txBox="1"/>
          <p:nvPr/>
        </p:nvSpPr>
        <p:spPr>
          <a:xfrm>
            <a:off x="9563741" y="5098646"/>
            <a:ext cx="7275819" cy="426335"/>
          </a:xfrm>
          <a:prstGeom prst="rect">
            <a:avLst/>
          </a:prstGeom>
        </p:spPr>
        <p:txBody>
          <a:bodyPr lIns="0" tIns="0" rIns="0" bIns="0" rtlCol="0" anchor="t">
            <a:spAutoFit/>
          </a:bodyPr>
          <a:lstStyle/>
          <a:p>
            <a:pPr algn="ctr">
              <a:lnSpc>
                <a:spcPts val="3499"/>
              </a:lnSpc>
              <a:spcBef>
                <a:spcPct val="0"/>
              </a:spcBef>
            </a:pPr>
            <a:r>
              <a:rPr lang="en-US" sz="2499" dirty="0" smtClean="0">
                <a:solidFill>
                  <a:srgbClr val="000000"/>
                </a:solidFill>
                <a:latin typeface="Poppins"/>
              </a:rPr>
              <a:t>. </a:t>
            </a:r>
            <a:endParaRPr lang="en-US" sz="2499" dirty="0">
              <a:solidFill>
                <a:srgbClr val="000000"/>
              </a:solidFill>
              <a:latin typeface="Poppins"/>
            </a:endParaRPr>
          </a:p>
        </p:txBody>
      </p:sp>
      <p:sp>
        <p:nvSpPr>
          <p:cNvPr id="28" name="Rectangle 27"/>
          <p:cNvSpPr/>
          <p:nvPr/>
        </p:nvSpPr>
        <p:spPr>
          <a:xfrm>
            <a:off x="10949132" y="5281272"/>
            <a:ext cx="9144000" cy="1938992"/>
          </a:xfrm>
          <a:prstGeom prst="rect">
            <a:avLst/>
          </a:prstGeom>
        </p:spPr>
        <p:txBody>
          <a:bodyPr>
            <a:spAutoFit/>
          </a:bodyPr>
          <a:lstStyle/>
          <a:p>
            <a:pPr marL="285750" indent="-28575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SYSTEM DESIGN</a:t>
            </a:r>
          </a:p>
          <a:p>
            <a:pPr marL="285750" indent="-28575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SYSTEM REQUIRMENT SPECIFICATIONS</a:t>
            </a:r>
          </a:p>
          <a:p>
            <a:pPr marL="285750" indent="-285750" algn="just">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FUTURE SCOPE</a:t>
            </a:r>
          </a:p>
          <a:p>
            <a:pPr marL="285750" indent="-28575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REFERENCES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9338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8" name="Freeform 8"/>
          <p:cNvSpPr/>
          <p:nvPr/>
        </p:nvSpPr>
        <p:spPr>
          <a:xfrm rot="3609890">
            <a:off x="7949990" y="6826132"/>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4">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4">
              <a:alphaModFix amt="55000"/>
            </a:blip>
            <a:stretch>
              <a:fillRect/>
            </a:stretch>
          </a:blipFill>
        </p:spPr>
      </p:sp>
      <p:grpSp>
        <p:nvGrpSpPr>
          <p:cNvPr id="16" name="Group 16"/>
          <p:cNvGrpSpPr/>
          <p:nvPr/>
        </p:nvGrpSpPr>
        <p:grpSpPr>
          <a:xfrm>
            <a:off x="1495024" y="471643"/>
            <a:ext cx="9588280" cy="1186881"/>
            <a:chOff x="0" y="0"/>
            <a:chExt cx="2525308" cy="312594"/>
          </a:xfrm>
        </p:grpSpPr>
        <p:sp>
          <p:nvSpPr>
            <p:cNvPr id="17" name="Freeform 17"/>
            <p:cNvSpPr/>
            <p:nvPr/>
          </p:nvSpPr>
          <p:spPr>
            <a:xfrm>
              <a:off x="0" y="0"/>
              <a:ext cx="2525308" cy="312594"/>
            </a:xfrm>
            <a:custGeom>
              <a:avLst/>
              <a:gdLst/>
              <a:ahLst/>
              <a:cxnLst/>
              <a:rect l="l" t="t" r="r" b="b"/>
              <a:pathLst>
                <a:path w="2525308" h="312594">
                  <a:moveTo>
                    <a:pt x="74284" y="0"/>
                  </a:moveTo>
                  <a:lnTo>
                    <a:pt x="2451024" y="0"/>
                  </a:lnTo>
                  <a:cubicBezTo>
                    <a:pt x="2470726" y="0"/>
                    <a:pt x="2489620" y="7826"/>
                    <a:pt x="2503551" y="21757"/>
                  </a:cubicBezTo>
                  <a:cubicBezTo>
                    <a:pt x="2517482" y="35688"/>
                    <a:pt x="2525308" y="54583"/>
                    <a:pt x="2525308" y="74284"/>
                  </a:cubicBezTo>
                  <a:lnTo>
                    <a:pt x="2525308" y="238310"/>
                  </a:lnTo>
                  <a:cubicBezTo>
                    <a:pt x="2525308" y="258011"/>
                    <a:pt x="2517482" y="276906"/>
                    <a:pt x="2503551" y="290837"/>
                  </a:cubicBezTo>
                  <a:cubicBezTo>
                    <a:pt x="2489620" y="304768"/>
                    <a:pt x="2470726" y="312594"/>
                    <a:pt x="2451024" y="312594"/>
                  </a:cubicBezTo>
                  <a:lnTo>
                    <a:pt x="74284" y="312594"/>
                  </a:lnTo>
                  <a:cubicBezTo>
                    <a:pt x="33258" y="312594"/>
                    <a:pt x="0" y="279336"/>
                    <a:pt x="0" y="238310"/>
                  </a:cubicBezTo>
                  <a:lnTo>
                    <a:pt x="0" y="74284"/>
                  </a:lnTo>
                  <a:cubicBezTo>
                    <a:pt x="0" y="54583"/>
                    <a:pt x="7826" y="35688"/>
                    <a:pt x="21757" y="21757"/>
                  </a:cubicBezTo>
                  <a:cubicBezTo>
                    <a:pt x="35688" y="7826"/>
                    <a:pt x="54583" y="0"/>
                    <a:pt x="74284" y="0"/>
                  </a:cubicBezTo>
                  <a:close/>
                </a:path>
              </a:pathLst>
            </a:custGeom>
            <a:solidFill>
              <a:srgbClr val="FFBC00"/>
            </a:solidFill>
          </p:spPr>
        </p:sp>
        <p:sp>
          <p:nvSpPr>
            <p:cNvPr id="18" name="TextBox 18"/>
            <p:cNvSpPr txBox="1"/>
            <p:nvPr/>
          </p:nvSpPr>
          <p:spPr>
            <a:xfrm>
              <a:off x="0" y="-57150"/>
              <a:ext cx="2525308" cy="369744"/>
            </a:xfrm>
            <a:prstGeom prst="rect">
              <a:avLst/>
            </a:prstGeom>
          </p:spPr>
          <p:txBody>
            <a:bodyPr lIns="50800" tIns="50800" rIns="50800" bIns="50800" rtlCol="0" anchor="ctr"/>
            <a:lstStyle/>
            <a:p>
              <a:pPr algn="ctr">
                <a:lnSpc>
                  <a:spcPts val="2659"/>
                </a:lnSpc>
              </a:pPr>
              <a:endParaRPr dirty="0"/>
            </a:p>
          </p:txBody>
        </p:sp>
      </p:grpSp>
      <p:sp>
        <p:nvSpPr>
          <p:cNvPr id="24" name="TextBox 24"/>
          <p:cNvSpPr txBox="1"/>
          <p:nvPr/>
        </p:nvSpPr>
        <p:spPr>
          <a:xfrm>
            <a:off x="3543915" y="734474"/>
            <a:ext cx="5600084" cy="737253"/>
          </a:xfrm>
          <a:prstGeom prst="rect">
            <a:avLst/>
          </a:prstGeom>
        </p:spPr>
        <p:txBody>
          <a:bodyPr lIns="0" tIns="0" rIns="0" bIns="0" rtlCol="0" anchor="t">
            <a:spAutoFit/>
          </a:bodyPr>
          <a:lstStyle/>
          <a:p>
            <a:pPr algn="ctr">
              <a:lnSpc>
                <a:spcPts val="6299"/>
              </a:lnSpc>
            </a:pPr>
            <a:r>
              <a:rPr lang="en-US" sz="4500" dirty="0" smtClean="0">
                <a:solidFill>
                  <a:srgbClr val="000000"/>
                </a:solidFill>
                <a:latin typeface="League Spartan Bold"/>
              </a:rPr>
              <a:t>ABSTRACT</a:t>
            </a:r>
            <a:endParaRPr lang="en-US" sz="4500" dirty="0">
              <a:solidFill>
                <a:srgbClr val="000000"/>
              </a:solidFill>
              <a:latin typeface="League Spartan Bold"/>
            </a:endParaRPr>
          </a:p>
        </p:txBody>
      </p:sp>
      <p:sp>
        <p:nvSpPr>
          <p:cNvPr id="26" name="TextBox 26"/>
          <p:cNvSpPr txBox="1"/>
          <p:nvPr/>
        </p:nvSpPr>
        <p:spPr>
          <a:xfrm>
            <a:off x="617966" y="1982348"/>
            <a:ext cx="10321304" cy="8309967"/>
          </a:xfrm>
          <a:prstGeom prst="rect">
            <a:avLst/>
          </a:prstGeom>
        </p:spPr>
        <p:txBody>
          <a:bodyPr wrap="square" lIns="0" tIns="0" rIns="0" bIns="0" rtlCol="0" anchor="t">
            <a:spAutoFit/>
          </a:bodyPr>
          <a:lstStyle/>
          <a:p>
            <a:pPr marL="742950" lvl="1" indent="-285750" algn="just">
              <a:lnSpc>
                <a:spcPct val="150000"/>
              </a:lnSpc>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It is always a complex procedure to diagnose autism spectrum disorder (ASD) because there is no particular medical test for autism, like a blood test, to make a diagnosis for the disorder. </a:t>
            </a:r>
          </a:p>
          <a:p>
            <a:pPr marL="742950" lvl="1" indent="-285750" algn="just">
              <a:lnSpc>
                <a:spcPct val="150000"/>
              </a:lnSpc>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Autism spectrum disorder is defined by the disability and impairments of participating in social communication or the presence of restricted or repetitive behaviours, or both. </a:t>
            </a:r>
          </a:p>
          <a:p>
            <a:pPr marL="742950" lvl="1" indent="-285750" algn="just">
              <a:lnSpc>
                <a:spcPct val="150000"/>
              </a:lnSpc>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It is a behaviourally diagnosed condition. To make a diagnosis, doctors look at the child's developmental history and behavior. Apparently, most children do not attain a proper diagnosis for autism until it is too late. </a:t>
            </a:r>
          </a:p>
          <a:p>
            <a:pPr marL="742950" lvl="1" indent="-285750" algn="just">
              <a:lnSpc>
                <a:spcPct val="150000"/>
              </a:lnSpc>
              <a:buFont typeface="Wingdings" panose="05000000000000000000" pitchFamily="2" charset="2"/>
              <a:buChar char="§"/>
            </a:pPr>
            <a:r>
              <a:rPr lang="en-IN" sz="2400" b="1" dirty="0">
                <a:latin typeface="Times New Roman" panose="02020603050405020304" pitchFamily="18" charset="0"/>
                <a:cs typeface="Times New Roman" panose="02020603050405020304" pitchFamily="18" charset="0"/>
              </a:rPr>
              <a:t>So, we are developing a system that will have the ability to diagnose Autism and come up with a reliable and effective conclusion even without the help of a professional. We hope this system will be very helpful for those concerned parents who are worried about their child's growth and activities, at the same time it will be very useful for the professionals.</a:t>
            </a:r>
            <a:endParaRPr lang="en-US" sz="2400" b="1" dirty="0">
              <a:latin typeface="Times New Roman" panose="02020603050405020304" pitchFamily="18" charset="0"/>
              <a:cs typeface="Times New Roman" panose="02020603050405020304" pitchFamily="18" charset="0"/>
            </a:endParaRPr>
          </a:p>
          <a:p>
            <a:pPr lvl="1" algn="just">
              <a:lnSpc>
                <a:spcPct val="150000"/>
              </a:lnSpc>
            </a:pPr>
            <a:r>
              <a:rPr lang="en-IN"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p:txBody>
      </p:sp>
      <p:sp>
        <p:nvSpPr>
          <p:cNvPr id="29" name="Rectangle 3"/>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0" name="Rectangle 4"/>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3" name="Rectangle 5"/>
          <p:cNvSpPr>
            <a:spLocks noChangeArrowheads="1"/>
          </p:cNvSpPr>
          <p:nvPr/>
        </p:nvSpPr>
        <p:spPr bwMode="auto">
          <a:xfrm>
            <a:off x="304800" y="304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4" name="Rectangle 6"/>
          <p:cNvSpPr>
            <a:spLocks noChangeArrowheads="1"/>
          </p:cNvSpPr>
          <p:nvPr/>
        </p:nvSpPr>
        <p:spPr bwMode="auto">
          <a:xfrm>
            <a:off x="457200" y="457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5" name="Rectangle 7"/>
          <p:cNvSpPr>
            <a:spLocks noChangeArrowheads="1"/>
          </p:cNvSpPr>
          <p:nvPr/>
        </p:nvSpPr>
        <p:spPr bwMode="auto">
          <a:xfrm>
            <a:off x="609600" y="609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6" name="Rectangle 8"/>
          <p:cNvSpPr>
            <a:spLocks noChangeArrowheads="1"/>
          </p:cNvSpPr>
          <p:nvPr/>
        </p:nvSpPr>
        <p:spPr bwMode="auto">
          <a:xfrm>
            <a:off x="762000" y="7620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7" name="Rectangle 9"/>
          <p:cNvSpPr>
            <a:spLocks noChangeArrowheads="1"/>
          </p:cNvSpPr>
          <p:nvPr/>
        </p:nvSpPr>
        <p:spPr bwMode="auto">
          <a:xfrm>
            <a:off x="914400" y="914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8" name="Rectangle 10"/>
          <p:cNvSpPr>
            <a:spLocks noChangeArrowheads="1"/>
          </p:cNvSpPr>
          <p:nvPr/>
        </p:nvSpPr>
        <p:spPr bwMode="auto">
          <a:xfrm>
            <a:off x="1066800" y="1066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39" name="Rectangle 11"/>
          <p:cNvSpPr>
            <a:spLocks noChangeArrowheads="1"/>
          </p:cNvSpPr>
          <p:nvPr/>
        </p:nvSpPr>
        <p:spPr bwMode="auto">
          <a:xfrm>
            <a:off x="1219200" y="1219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0" name="Rectangle 12"/>
          <p:cNvSpPr>
            <a:spLocks noChangeArrowheads="1"/>
          </p:cNvSpPr>
          <p:nvPr/>
        </p:nvSpPr>
        <p:spPr bwMode="auto">
          <a:xfrm>
            <a:off x="1371600" y="1371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1" name="Rectangle 13"/>
          <p:cNvSpPr>
            <a:spLocks noChangeArrowheads="1"/>
          </p:cNvSpPr>
          <p:nvPr/>
        </p:nvSpPr>
        <p:spPr bwMode="auto">
          <a:xfrm>
            <a:off x="1524000" y="15240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2" name="Rectangle 14"/>
          <p:cNvSpPr>
            <a:spLocks noChangeArrowheads="1"/>
          </p:cNvSpPr>
          <p:nvPr/>
        </p:nvSpPr>
        <p:spPr bwMode="auto">
          <a:xfrm>
            <a:off x="1676400" y="1676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3" name="Rectangle 15"/>
          <p:cNvSpPr>
            <a:spLocks noChangeArrowheads="1"/>
          </p:cNvSpPr>
          <p:nvPr/>
        </p:nvSpPr>
        <p:spPr bwMode="auto">
          <a:xfrm>
            <a:off x="1828800" y="1828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4" name="Rectangle 16"/>
          <p:cNvSpPr>
            <a:spLocks noChangeArrowheads="1"/>
          </p:cNvSpPr>
          <p:nvPr/>
        </p:nvSpPr>
        <p:spPr bwMode="auto">
          <a:xfrm>
            <a:off x="1981200" y="19812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5" name="Rectangle 17"/>
          <p:cNvSpPr>
            <a:spLocks noChangeArrowheads="1"/>
          </p:cNvSpPr>
          <p:nvPr/>
        </p:nvSpPr>
        <p:spPr bwMode="auto">
          <a:xfrm>
            <a:off x="2133600" y="2133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6" name="Rectangle 18"/>
          <p:cNvSpPr>
            <a:spLocks noChangeArrowheads="1"/>
          </p:cNvSpPr>
          <p:nvPr/>
        </p:nvSpPr>
        <p:spPr bwMode="auto">
          <a:xfrm>
            <a:off x="2286000" y="22860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7" name="Rectangle 19"/>
          <p:cNvSpPr>
            <a:spLocks noChangeArrowheads="1"/>
          </p:cNvSpPr>
          <p:nvPr/>
        </p:nvSpPr>
        <p:spPr bwMode="auto">
          <a:xfrm>
            <a:off x="2438400" y="2438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035" name="Rectangle 40"/>
          <p:cNvSpPr>
            <a:spLocks noChangeArrowheads="1"/>
          </p:cNvSpPr>
          <p:nvPr/>
        </p:nvSpPr>
        <p:spPr bwMode="auto">
          <a:xfrm>
            <a:off x="2590800" y="25908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pic>
        <p:nvPicPr>
          <p:cNvPr id="1030" name="Picture 6" descr="Autism Doesn't Come With A Manuel It Comes With A Parent: Handy specially  designed daily checklist for anyone who works in the Autism Spectrum. ...  to carry with you and keep i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6226" y="-656"/>
            <a:ext cx="5909597" cy="10475073"/>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9"/>
          <p:cNvGrpSpPr/>
          <p:nvPr/>
        </p:nvGrpSpPr>
        <p:grpSpPr>
          <a:xfrm rot="997894">
            <a:off x="12248159" y="-32965"/>
            <a:ext cx="1896148" cy="5525150"/>
            <a:chOff x="0" y="0"/>
            <a:chExt cx="499397" cy="1772338"/>
          </a:xfrm>
        </p:grpSpPr>
        <p:sp>
          <p:nvSpPr>
            <p:cNvPr id="20" name="Freeform 20"/>
            <p:cNvSpPr/>
            <p:nvPr/>
          </p:nvSpPr>
          <p:spPr>
            <a:xfrm>
              <a:off x="0" y="0"/>
              <a:ext cx="499397" cy="1772338"/>
            </a:xfrm>
            <a:custGeom>
              <a:avLst/>
              <a:gdLst/>
              <a:ahLst/>
              <a:cxnLst/>
              <a:rect l="l" t="t" r="r" b="b"/>
              <a:pathLst>
                <a:path w="499397" h="1772338">
                  <a:moveTo>
                    <a:pt x="0" y="0"/>
                  </a:moveTo>
                  <a:lnTo>
                    <a:pt x="499397" y="0"/>
                  </a:lnTo>
                  <a:lnTo>
                    <a:pt x="499397" y="1772338"/>
                  </a:lnTo>
                  <a:lnTo>
                    <a:pt x="0" y="1772338"/>
                  </a:lnTo>
                  <a:close/>
                </a:path>
              </a:pathLst>
            </a:custGeom>
            <a:solidFill>
              <a:srgbClr val="FFBC00"/>
            </a:solidFill>
          </p:spPr>
        </p:sp>
        <p:sp>
          <p:nvSpPr>
            <p:cNvPr id="21" name="TextBox 21"/>
            <p:cNvSpPr txBox="1"/>
            <p:nvPr/>
          </p:nvSpPr>
          <p:spPr>
            <a:xfrm>
              <a:off x="0" y="-57150"/>
              <a:ext cx="499397" cy="1829488"/>
            </a:xfrm>
            <a:prstGeom prst="rect">
              <a:avLst/>
            </a:prstGeom>
          </p:spPr>
          <p:txBody>
            <a:bodyPr lIns="50800" tIns="50800" rIns="50800" bIns="50800" rtlCol="0" anchor="ctr"/>
            <a:lstStyle/>
            <a:p>
              <a:pPr algn="ctr">
                <a:lnSpc>
                  <a:spcPts val="2659"/>
                </a:lnSpc>
              </a:pPr>
              <a:endParaRPr dirty="0"/>
            </a:p>
          </p:txBody>
        </p:sp>
      </p:grpSp>
      <p:grpSp>
        <p:nvGrpSpPr>
          <p:cNvPr id="5" name="Group 5"/>
          <p:cNvGrpSpPr/>
          <p:nvPr/>
        </p:nvGrpSpPr>
        <p:grpSpPr>
          <a:xfrm rot="10799999">
            <a:off x="9926040" y="5669920"/>
            <a:ext cx="5443005" cy="4762630"/>
            <a:chOff x="0" y="0"/>
            <a:chExt cx="812800" cy="711200"/>
          </a:xfrm>
        </p:grpSpPr>
        <p:sp>
          <p:nvSpPr>
            <p:cNvPr id="7" name="TextBox 7"/>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dirty="0"/>
            </a:p>
          </p:txBody>
        </p:sp>
        <p:sp>
          <p:nvSpPr>
            <p:cNvPr id="6" name="Freeform 6"/>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3D60"/>
            </a:solidFill>
          </p:spPr>
        </p:sp>
      </p:grpSp>
      <p:grpSp>
        <p:nvGrpSpPr>
          <p:cNvPr id="10" name="Group 10"/>
          <p:cNvGrpSpPr/>
          <p:nvPr/>
        </p:nvGrpSpPr>
        <p:grpSpPr>
          <a:xfrm rot="-1772257">
            <a:off x="12998404" y="4223060"/>
            <a:ext cx="1688777" cy="6498834"/>
            <a:chOff x="0" y="0"/>
            <a:chExt cx="444781" cy="1965522"/>
          </a:xfrm>
        </p:grpSpPr>
        <p:sp>
          <p:nvSpPr>
            <p:cNvPr id="12" name="TextBox 12"/>
            <p:cNvSpPr txBox="1"/>
            <p:nvPr/>
          </p:nvSpPr>
          <p:spPr>
            <a:xfrm>
              <a:off x="0" y="-57150"/>
              <a:ext cx="444781" cy="2022672"/>
            </a:xfrm>
            <a:prstGeom prst="rect">
              <a:avLst/>
            </a:prstGeom>
          </p:spPr>
          <p:txBody>
            <a:bodyPr lIns="50800" tIns="50800" rIns="50800" bIns="50800" rtlCol="0" anchor="ctr"/>
            <a:lstStyle/>
            <a:p>
              <a:pPr algn="ctr">
                <a:lnSpc>
                  <a:spcPts val="2659"/>
                </a:lnSpc>
              </a:pPr>
              <a:endParaRPr dirty="0"/>
            </a:p>
          </p:txBody>
        </p:sp>
        <p:sp>
          <p:nvSpPr>
            <p:cNvPr id="11" name="Freeform 11"/>
            <p:cNvSpPr/>
            <p:nvPr/>
          </p:nvSpPr>
          <p:spPr>
            <a:xfrm>
              <a:off x="0" y="0"/>
              <a:ext cx="444781" cy="1965522"/>
            </a:xfrm>
            <a:custGeom>
              <a:avLst/>
              <a:gdLst/>
              <a:ahLst/>
              <a:cxnLst/>
              <a:rect l="l" t="t" r="r" b="b"/>
              <a:pathLst>
                <a:path w="444781" h="1965522">
                  <a:moveTo>
                    <a:pt x="0" y="0"/>
                  </a:moveTo>
                  <a:lnTo>
                    <a:pt x="444781" y="0"/>
                  </a:lnTo>
                  <a:lnTo>
                    <a:pt x="444781" y="1965522"/>
                  </a:lnTo>
                  <a:lnTo>
                    <a:pt x="0" y="1965522"/>
                  </a:lnTo>
                  <a:close/>
                </a:path>
              </a:pathLst>
            </a:custGeom>
            <a:solidFill>
              <a:srgbClr val="FFBC00"/>
            </a:solidFill>
          </p:spPr>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2251" y="5412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4">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4">
              <a:alphaModFix amt="55000"/>
            </a:blip>
            <a:stretch>
              <a:fillRect/>
            </a:stretch>
          </a:blipFill>
        </p:spPr>
      </p:sp>
      <p:sp>
        <p:nvSpPr>
          <p:cNvPr id="14" name="Rectangle 13"/>
          <p:cNvSpPr/>
          <p:nvPr/>
        </p:nvSpPr>
        <p:spPr>
          <a:xfrm>
            <a:off x="685800" y="2019420"/>
            <a:ext cx="16459200" cy="8664680"/>
          </a:xfrm>
          <a:prstGeom prst="rect">
            <a:avLst/>
          </a:prstGeom>
        </p:spPr>
        <p:txBody>
          <a:bodyPr wrap="square">
            <a:spAutoFit/>
          </a:bodyPr>
          <a:lstStyle/>
          <a:p>
            <a:pPr marL="285750" indent="-285750" algn="just">
              <a:lnSpc>
                <a:spcPct val="150000"/>
              </a:lnSpc>
              <a:buFont typeface="Wingdings" panose="05000000000000000000" pitchFamily="2" charset="2"/>
              <a:buChar char="§"/>
            </a:pPr>
            <a:r>
              <a:rPr lang="en-IN" sz="2200" b="1" dirty="0">
                <a:latin typeface="Times New Roman" panose="02020603050405020304" pitchFamily="18" charset="0"/>
                <a:cs typeface="Times New Roman" panose="02020603050405020304" pitchFamily="18" charset="0"/>
              </a:rPr>
              <a:t>Autism, formally known as Autism Spectrum Disorder (ASD), is a complex neurodevelopmental condition that affects individuals in various ways. It is characterized by a wide range of symptoms and challenges that primarily impact social interaction, communication, and </a:t>
            </a:r>
            <a:r>
              <a:rPr lang="en-IN" sz="2200" b="1" dirty="0" smtClean="0">
                <a:latin typeface="Times New Roman" panose="02020603050405020304" pitchFamily="18" charset="0"/>
                <a:cs typeface="Times New Roman" panose="02020603050405020304" pitchFamily="18" charset="0"/>
              </a:rPr>
              <a:t>behavior</a:t>
            </a:r>
            <a:endParaRPr lang="en-IN" sz="2200"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sz="2200" b="1" dirty="0" smtClean="0">
                <a:latin typeface="Times New Roman" panose="02020603050405020304" pitchFamily="18" charset="0"/>
                <a:cs typeface="Times New Roman" panose="02020603050405020304" pitchFamily="18" charset="0"/>
              </a:rPr>
              <a:t> Autism is often described as a "spectrum" disorder because it manifests differently in each person, with varying degrees of severity and a diverse array of strengths and difficulties. Autism typically becomes apparent in early childhood, often before the age of three. However, it can continue to influence an individual's life throughout their lifespan.</a:t>
            </a:r>
          </a:p>
          <a:p>
            <a:pPr marL="285750" indent="-285750" algn="just">
              <a:lnSpc>
                <a:spcPct val="150000"/>
              </a:lnSpc>
              <a:buFont typeface="Wingdings" panose="05000000000000000000" pitchFamily="2" charset="2"/>
              <a:buChar char="§"/>
            </a:pPr>
            <a:r>
              <a:rPr lang="en-IN" sz="2200" b="1" dirty="0" smtClean="0">
                <a:latin typeface="Times New Roman" panose="02020603050405020304" pitchFamily="18" charset="0"/>
                <a:cs typeface="Times New Roman" panose="02020603050405020304" pitchFamily="18" charset="0"/>
              </a:rPr>
              <a:t>While </a:t>
            </a:r>
            <a:r>
              <a:rPr lang="en-IN" sz="2200" b="1" dirty="0">
                <a:latin typeface="Times New Roman" panose="02020603050405020304" pitchFamily="18" charset="0"/>
                <a:cs typeface="Times New Roman" panose="02020603050405020304" pitchFamily="18" charset="0"/>
              </a:rPr>
              <a:t>the exact cause of autism remains the subject of ongoing research, it is believed to result from a combination of genetic and environmental factors. Some common features of autism include: Social Challenges: Individuals with autism may have difficulty with social interactions, including understanding social cues, maintaining eye contact, and forming relationships. Communication Difficulties: Many people with autism experience challenges in verbal and nonverbal communication.</a:t>
            </a:r>
          </a:p>
          <a:p>
            <a:pPr marL="285750" indent="-285750" algn="just">
              <a:lnSpc>
                <a:spcPct val="150000"/>
              </a:lnSpc>
              <a:buFont typeface="Wingdings" panose="05000000000000000000" pitchFamily="2" charset="2"/>
              <a:buChar char="§"/>
            </a:pPr>
            <a:r>
              <a:rPr lang="en-IN" sz="2200" b="1" dirty="0" smtClean="0">
                <a:latin typeface="Times New Roman" panose="02020603050405020304" pitchFamily="18" charset="0"/>
                <a:cs typeface="Times New Roman" panose="02020603050405020304" pitchFamily="18" charset="0"/>
              </a:rPr>
              <a:t>Autism </a:t>
            </a:r>
            <a:r>
              <a:rPr lang="en-IN" sz="2200" b="1" dirty="0">
                <a:latin typeface="Times New Roman" panose="02020603050405020304" pitchFamily="18" charset="0"/>
                <a:cs typeface="Times New Roman" panose="02020603050405020304" pitchFamily="18" charset="0"/>
              </a:rPr>
              <a:t>awareness and acceptance are crucial in promoting inclusivity and ensuring that individuals with autism are given the opportunities they deserve to reach their full potential. </a:t>
            </a:r>
            <a:endParaRPr lang="en-IN" sz="2200" b="1"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r>
              <a:rPr lang="en-IN" sz="2200" b="1" dirty="0" smtClean="0">
                <a:latin typeface="Times New Roman" panose="02020603050405020304" pitchFamily="18" charset="0"/>
                <a:cs typeface="Times New Roman" panose="02020603050405020304" pitchFamily="18" charset="0"/>
              </a:rPr>
              <a:t>In </a:t>
            </a:r>
            <a:r>
              <a:rPr lang="en-IN" sz="2200" b="1" dirty="0">
                <a:latin typeface="Times New Roman" panose="02020603050405020304" pitchFamily="18" charset="0"/>
                <a:cs typeface="Times New Roman" panose="02020603050405020304" pitchFamily="18" charset="0"/>
              </a:rPr>
              <a:t>recent years, machine learning has acquired many achievements and it is gaining more importance in applied sciences such as medicine and biomedicine. In clinical decision making and diagnostics, machine learning methods are used or recommended to support data interpretation. Therefore, methods of screening diseases with the aid of machine learning are extensively studied.</a:t>
            </a:r>
            <a:endParaRPr lang="en-US" sz="2200"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endParaRPr lang="en-IN" sz="2200" b="1"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pPr>
            <a:endParaRPr lang="en-US" sz="2200" b="1" dirty="0">
              <a:latin typeface="Times New Roman" panose="02020603050405020304" pitchFamily="18" charset="0"/>
              <a:cs typeface="Times New Roman" panose="02020603050405020304" pitchFamily="18" charset="0"/>
            </a:endParaRPr>
          </a:p>
        </p:txBody>
      </p:sp>
      <p:grpSp>
        <p:nvGrpSpPr>
          <p:cNvPr id="10" name="Group 16"/>
          <p:cNvGrpSpPr/>
          <p:nvPr/>
        </p:nvGrpSpPr>
        <p:grpSpPr>
          <a:xfrm>
            <a:off x="3886200" y="201154"/>
            <a:ext cx="9588280" cy="1403873"/>
            <a:chOff x="0" y="-57150"/>
            <a:chExt cx="2525308" cy="369744"/>
          </a:xfrm>
        </p:grpSpPr>
        <p:sp>
          <p:nvSpPr>
            <p:cNvPr id="11" name="Freeform 17"/>
            <p:cNvSpPr/>
            <p:nvPr/>
          </p:nvSpPr>
          <p:spPr>
            <a:xfrm>
              <a:off x="0" y="0"/>
              <a:ext cx="2525308" cy="312594"/>
            </a:xfrm>
            <a:custGeom>
              <a:avLst/>
              <a:gdLst/>
              <a:ahLst/>
              <a:cxnLst/>
              <a:rect l="l" t="t" r="r" b="b"/>
              <a:pathLst>
                <a:path w="2525308" h="312594">
                  <a:moveTo>
                    <a:pt x="74284" y="0"/>
                  </a:moveTo>
                  <a:lnTo>
                    <a:pt x="2451024" y="0"/>
                  </a:lnTo>
                  <a:cubicBezTo>
                    <a:pt x="2470726" y="0"/>
                    <a:pt x="2489620" y="7826"/>
                    <a:pt x="2503551" y="21757"/>
                  </a:cubicBezTo>
                  <a:cubicBezTo>
                    <a:pt x="2517482" y="35688"/>
                    <a:pt x="2525308" y="54583"/>
                    <a:pt x="2525308" y="74284"/>
                  </a:cubicBezTo>
                  <a:lnTo>
                    <a:pt x="2525308" y="238310"/>
                  </a:lnTo>
                  <a:cubicBezTo>
                    <a:pt x="2525308" y="258011"/>
                    <a:pt x="2517482" y="276906"/>
                    <a:pt x="2503551" y="290837"/>
                  </a:cubicBezTo>
                  <a:cubicBezTo>
                    <a:pt x="2489620" y="304768"/>
                    <a:pt x="2470726" y="312594"/>
                    <a:pt x="2451024" y="312594"/>
                  </a:cubicBezTo>
                  <a:lnTo>
                    <a:pt x="74284" y="312594"/>
                  </a:lnTo>
                  <a:cubicBezTo>
                    <a:pt x="33258" y="312594"/>
                    <a:pt x="0" y="279336"/>
                    <a:pt x="0" y="238310"/>
                  </a:cubicBezTo>
                  <a:lnTo>
                    <a:pt x="0" y="74284"/>
                  </a:lnTo>
                  <a:cubicBezTo>
                    <a:pt x="0" y="54583"/>
                    <a:pt x="7826" y="35688"/>
                    <a:pt x="21757" y="21757"/>
                  </a:cubicBezTo>
                  <a:cubicBezTo>
                    <a:pt x="35688" y="7826"/>
                    <a:pt x="54583" y="0"/>
                    <a:pt x="74284" y="0"/>
                  </a:cubicBezTo>
                  <a:close/>
                </a:path>
              </a:pathLst>
            </a:custGeom>
            <a:solidFill>
              <a:srgbClr val="FFBC00"/>
            </a:solidFill>
          </p:spPr>
          <p:txBody>
            <a:bodyPr/>
            <a:lstStyle/>
            <a:p>
              <a:pPr algn="ctr"/>
              <a:r>
                <a:rPr lang="en-US" sz="3600" b="1" dirty="0" smtClean="0">
                  <a:latin typeface="Times New Roman" panose="02020603050405020304" pitchFamily="18" charset="0"/>
                  <a:cs typeface="Times New Roman" panose="02020603050405020304" pitchFamily="18" charset="0"/>
                </a:rPr>
                <a:t>INTRODUCTION</a:t>
              </a:r>
              <a:endParaRPr lang="en-US" sz="3600" b="1" dirty="0">
                <a:latin typeface="Times New Roman" panose="02020603050405020304" pitchFamily="18" charset="0"/>
                <a:cs typeface="Times New Roman" panose="02020603050405020304" pitchFamily="18" charset="0"/>
              </a:endParaRPr>
            </a:p>
          </p:txBody>
        </p:sp>
        <p:sp>
          <p:nvSpPr>
            <p:cNvPr id="12" name="TextBox 18"/>
            <p:cNvSpPr txBox="1"/>
            <p:nvPr/>
          </p:nvSpPr>
          <p:spPr>
            <a:xfrm>
              <a:off x="0" y="-57150"/>
              <a:ext cx="2525308" cy="369744"/>
            </a:xfrm>
            <a:prstGeom prst="rect">
              <a:avLst/>
            </a:prstGeom>
          </p:spPr>
          <p:txBody>
            <a:bodyPr lIns="50800" tIns="50800" rIns="50800" bIns="50800" rtlCol="0" anchor="ctr"/>
            <a:lstStyle/>
            <a:p>
              <a:pPr algn="ctr">
                <a:lnSpc>
                  <a:spcPts val="2659"/>
                </a:lnSpc>
              </a:pPr>
              <a:endParaRPr dirty="0"/>
            </a:p>
          </p:txBody>
        </p:sp>
      </p:grpSp>
    </p:spTree>
    <p:extLst>
      <p:ext uri="{BB962C8B-B14F-4D97-AF65-F5344CB8AC3E}">
        <p14:creationId xmlns:p14="http://schemas.microsoft.com/office/powerpoint/2010/main" val="38666043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790" y="1101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860954" y="433108"/>
            <a:ext cx="9784422" cy="2057400"/>
            <a:chOff x="0" y="0"/>
            <a:chExt cx="2576967" cy="541867"/>
          </a:xfrm>
        </p:grpSpPr>
        <p:sp>
          <p:nvSpPr>
            <p:cNvPr id="4" name="Freeform 4"/>
            <p:cNvSpPr/>
            <p:nvPr/>
          </p:nvSpPr>
          <p:spPr>
            <a:xfrm>
              <a:off x="0" y="0"/>
              <a:ext cx="2576967" cy="541867"/>
            </a:xfrm>
            <a:custGeom>
              <a:avLst/>
              <a:gdLst/>
              <a:ahLst/>
              <a:cxnLst/>
              <a:rect l="l" t="t" r="r" b="b"/>
              <a:pathLst>
                <a:path w="2576967" h="541867">
                  <a:moveTo>
                    <a:pt x="72795" y="0"/>
                  </a:moveTo>
                  <a:lnTo>
                    <a:pt x="2504172" y="0"/>
                  </a:lnTo>
                  <a:cubicBezTo>
                    <a:pt x="2544376" y="0"/>
                    <a:pt x="2576967" y="32591"/>
                    <a:pt x="2576967" y="72795"/>
                  </a:cubicBezTo>
                  <a:lnTo>
                    <a:pt x="2576967" y="469072"/>
                  </a:lnTo>
                  <a:cubicBezTo>
                    <a:pt x="2576967" y="509275"/>
                    <a:pt x="2544376" y="541867"/>
                    <a:pt x="2504172" y="541867"/>
                  </a:cubicBezTo>
                  <a:lnTo>
                    <a:pt x="72795" y="541867"/>
                  </a:lnTo>
                  <a:cubicBezTo>
                    <a:pt x="32591" y="541867"/>
                    <a:pt x="0" y="509275"/>
                    <a:pt x="0" y="469072"/>
                  </a:cubicBezTo>
                  <a:lnTo>
                    <a:pt x="0" y="72795"/>
                  </a:lnTo>
                  <a:cubicBezTo>
                    <a:pt x="0" y="32591"/>
                    <a:pt x="32591" y="0"/>
                    <a:pt x="72795" y="0"/>
                  </a:cubicBezTo>
                  <a:close/>
                </a:path>
              </a:pathLst>
            </a:custGeom>
            <a:solidFill>
              <a:srgbClr val="FFBC00"/>
            </a:solidFill>
          </p:spPr>
        </p:sp>
        <p:sp>
          <p:nvSpPr>
            <p:cNvPr id="5" name="TextBox 5"/>
            <p:cNvSpPr txBox="1"/>
            <p:nvPr/>
          </p:nvSpPr>
          <p:spPr>
            <a:xfrm>
              <a:off x="0" y="-57150"/>
              <a:ext cx="2576967" cy="599017"/>
            </a:xfrm>
            <a:prstGeom prst="rect">
              <a:avLst/>
            </a:prstGeom>
          </p:spPr>
          <p:txBody>
            <a:bodyPr lIns="50800" tIns="50800" rIns="50800" bIns="50800" rtlCol="0" anchor="ctr"/>
            <a:lstStyle/>
            <a:p>
              <a:pPr algn="ctr">
                <a:lnSpc>
                  <a:spcPts val="2659"/>
                </a:lnSpc>
              </a:pPr>
              <a:endParaRPr dirty="0"/>
            </a:p>
          </p:txBody>
        </p:sp>
      </p:grpSp>
      <p:sp>
        <p:nvSpPr>
          <p:cNvPr id="11" name="Freeform 11"/>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3">
              <a:alphaModFix amt="55000"/>
            </a:blip>
            <a:stretch>
              <a:fillRect/>
            </a:stretch>
          </a:blipFill>
        </p:spPr>
      </p:sp>
      <p:sp>
        <p:nvSpPr>
          <p:cNvPr id="12" name="Freeform 12"/>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3">
              <a:alphaModFix amt="55000"/>
            </a:blip>
            <a:stretch>
              <a:fillRect/>
            </a:stretch>
          </a:blipFill>
        </p:spPr>
      </p:sp>
      <p:sp>
        <p:nvSpPr>
          <p:cNvPr id="19" name="TextBox 19"/>
          <p:cNvSpPr txBox="1"/>
          <p:nvPr/>
        </p:nvSpPr>
        <p:spPr>
          <a:xfrm>
            <a:off x="2926373" y="861321"/>
            <a:ext cx="7402224" cy="692497"/>
          </a:xfrm>
          <a:prstGeom prst="rect">
            <a:avLst/>
          </a:prstGeom>
        </p:spPr>
        <p:txBody>
          <a:bodyPr lIns="0" tIns="0" rIns="0" bIns="0" rtlCol="0" anchor="t">
            <a:spAutoFit/>
          </a:bodyPr>
          <a:lstStyle/>
          <a:p>
            <a:pPr>
              <a:lnSpc>
                <a:spcPts val="5400"/>
              </a:lnSpc>
            </a:pPr>
            <a:r>
              <a:rPr lang="en-US" sz="4500" dirty="0" smtClean="0">
                <a:solidFill>
                  <a:srgbClr val="000000"/>
                </a:solidFill>
                <a:latin typeface="Times New Roman" panose="02020603050405020304" pitchFamily="18" charset="0"/>
                <a:cs typeface="Times New Roman" panose="02020603050405020304" pitchFamily="18" charset="0"/>
              </a:rPr>
              <a:t>AIM &amp; OBJECTIVE</a:t>
            </a:r>
            <a:endParaRPr lang="en-US" sz="4500" dirty="0">
              <a:solidFill>
                <a:srgbClr val="000000"/>
              </a:solidFill>
              <a:latin typeface="Times New Roman" panose="02020603050405020304" pitchFamily="18" charset="0"/>
              <a:cs typeface="Times New Roman" panose="02020603050405020304" pitchFamily="18" charset="0"/>
            </a:endParaRPr>
          </a:p>
        </p:txBody>
      </p:sp>
      <p:sp>
        <p:nvSpPr>
          <p:cNvPr id="20" name="TextBox 20"/>
          <p:cNvSpPr txBox="1"/>
          <p:nvPr/>
        </p:nvSpPr>
        <p:spPr>
          <a:xfrm>
            <a:off x="1028700" y="3378703"/>
            <a:ext cx="7924764" cy="377091"/>
          </a:xfrm>
          <a:prstGeom prst="rect">
            <a:avLst/>
          </a:prstGeom>
        </p:spPr>
        <p:txBody>
          <a:bodyPr lIns="0" tIns="0" rIns="0" bIns="0" rtlCol="0" anchor="t">
            <a:spAutoFit/>
          </a:bodyPr>
          <a:lstStyle/>
          <a:p>
            <a:pPr algn="just">
              <a:lnSpc>
                <a:spcPts val="3079"/>
              </a:lnSpc>
              <a:spcBef>
                <a:spcPct val="0"/>
              </a:spcBef>
            </a:pPr>
            <a:r>
              <a:rPr lang="en-US" sz="2199" dirty="0" smtClean="0">
                <a:solidFill>
                  <a:srgbClr val="000000"/>
                </a:solidFill>
                <a:latin typeface="Poppins"/>
              </a:rPr>
              <a:t>. </a:t>
            </a:r>
            <a:endParaRPr lang="en-US" sz="2199" dirty="0">
              <a:solidFill>
                <a:srgbClr val="000000"/>
              </a:solidFill>
              <a:latin typeface="Poppins"/>
            </a:endParaRPr>
          </a:p>
        </p:txBody>
      </p:sp>
      <p:sp>
        <p:nvSpPr>
          <p:cNvPr id="21" name="TextBox 21"/>
          <p:cNvSpPr txBox="1"/>
          <p:nvPr/>
        </p:nvSpPr>
        <p:spPr>
          <a:xfrm>
            <a:off x="1028700" y="5580679"/>
            <a:ext cx="7924764" cy="377091"/>
          </a:xfrm>
          <a:prstGeom prst="rect">
            <a:avLst/>
          </a:prstGeom>
        </p:spPr>
        <p:txBody>
          <a:bodyPr lIns="0" tIns="0" rIns="0" bIns="0" rtlCol="0" anchor="t">
            <a:spAutoFit/>
          </a:bodyPr>
          <a:lstStyle/>
          <a:p>
            <a:pPr algn="just">
              <a:lnSpc>
                <a:spcPts val="3079"/>
              </a:lnSpc>
              <a:spcBef>
                <a:spcPct val="0"/>
              </a:spcBef>
            </a:pPr>
            <a:r>
              <a:rPr lang="en-US" sz="2199" dirty="0" smtClean="0">
                <a:solidFill>
                  <a:srgbClr val="000000"/>
                </a:solidFill>
                <a:latin typeface="Poppins"/>
              </a:rPr>
              <a:t>.</a:t>
            </a:r>
            <a:endParaRPr lang="en-US" sz="2199" dirty="0">
              <a:solidFill>
                <a:srgbClr val="000000"/>
              </a:solidFill>
              <a:latin typeface="Poppins"/>
            </a:endParaRPr>
          </a:p>
        </p:txBody>
      </p:sp>
      <p:sp>
        <p:nvSpPr>
          <p:cNvPr id="22" name="TextBox 22"/>
          <p:cNvSpPr txBox="1"/>
          <p:nvPr/>
        </p:nvSpPr>
        <p:spPr>
          <a:xfrm>
            <a:off x="1028700" y="7392130"/>
            <a:ext cx="7924764" cy="377091"/>
          </a:xfrm>
          <a:prstGeom prst="rect">
            <a:avLst/>
          </a:prstGeom>
        </p:spPr>
        <p:txBody>
          <a:bodyPr lIns="0" tIns="0" rIns="0" bIns="0" rtlCol="0" anchor="t">
            <a:spAutoFit/>
          </a:bodyPr>
          <a:lstStyle/>
          <a:p>
            <a:pPr algn="just">
              <a:lnSpc>
                <a:spcPts val="3079"/>
              </a:lnSpc>
              <a:spcBef>
                <a:spcPct val="0"/>
              </a:spcBef>
            </a:pPr>
            <a:r>
              <a:rPr lang="en-US" sz="2199" dirty="0" smtClean="0">
                <a:solidFill>
                  <a:srgbClr val="000000"/>
                </a:solidFill>
                <a:latin typeface="Poppins"/>
              </a:rPr>
              <a:t>.</a:t>
            </a:r>
            <a:endParaRPr lang="en-US" sz="2199" dirty="0">
              <a:solidFill>
                <a:srgbClr val="000000"/>
              </a:solidFill>
              <a:latin typeface="Poppins"/>
            </a:endParaRPr>
          </a:p>
        </p:txBody>
      </p:sp>
      <p:sp>
        <p:nvSpPr>
          <p:cNvPr id="23" name="TextBox 22"/>
          <p:cNvSpPr txBox="1"/>
          <p:nvPr/>
        </p:nvSpPr>
        <p:spPr>
          <a:xfrm>
            <a:off x="192748" y="2618850"/>
            <a:ext cx="10341864" cy="7305461"/>
          </a:xfrm>
          <a:prstGeom prst="rect">
            <a:avLst/>
          </a:prstGeom>
          <a:noFill/>
        </p:spPr>
        <p:txBody>
          <a:bodyPr wrap="square" rtlCol="0">
            <a:spAutoFit/>
          </a:bodyPr>
          <a:lstStyle/>
          <a:p>
            <a:pPr algn="just">
              <a:lnSpc>
                <a:spcPct val="150000"/>
              </a:lnSpc>
            </a:pPr>
            <a:r>
              <a:rPr lang="en-US" sz="2100" b="1" dirty="0">
                <a:latin typeface="Times New Roman" panose="02020603050405020304" pitchFamily="18" charset="0"/>
                <a:cs typeface="Times New Roman" panose="02020603050405020304" pitchFamily="18" charset="0"/>
              </a:rPr>
              <a:t>The main objective is to develop an application which can allow the user to be able to find out whether he/she may have chances of being Autistic. Other objectives of this application is to be able to satisfy the need for early detection of Autism and provide necessary details about such a medical condition. The application also consists of available doctors who specialize in certain fields, this can be vital and informative to the user. Our aim is to make this web application user friendly and accessible.</a:t>
            </a:r>
          </a:p>
          <a:p>
            <a:pPr algn="just">
              <a:lnSpc>
                <a:spcPct val="150000"/>
              </a:lnSpc>
            </a:pPr>
            <a:r>
              <a:rPr lang="en-US" sz="2100" b="1" dirty="0">
                <a:latin typeface="Times New Roman" panose="02020603050405020304" pitchFamily="18" charset="0"/>
                <a:cs typeface="Times New Roman" panose="02020603050405020304" pitchFamily="18" charset="0"/>
              </a:rPr>
              <a:t> </a:t>
            </a:r>
          </a:p>
          <a:p>
            <a:pPr algn="just">
              <a:lnSpc>
                <a:spcPct val="150000"/>
              </a:lnSpc>
            </a:pPr>
            <a:r>
              <a:rPr lang="en-IN" sz="2100" b="1" dirty="0">
                <a:latin typeface="Times New Roman" panose="02020603050405020304" pitchFamily="18" charset="0"/>
                <a:cs typeface="Times New Roman" panose="02020603050405020304" pitchFamily="18" charset="0"/>
              </a:rPr>
              <a:t>Objectives:</a:t>
            </a:r>
            <a:endParaRPr lang="en-US" sz="21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sz="2100" b="1" dirty="0">
                <a:latin typeface="Times New Roman" panose="02020603050405020304" pitchFamily="18" charset="0"/>
                <a:cs typeface="Times New Roman" panose="02020603050405020304" pitchFamily="18" charset="0"/>
              </a:rPr>
              <a:t>The dataset Collection for Autism Spectrum Disorder Dataset from various sources.</a:t>
            </a:r>
            <a:endParaRPr lang="en-US" sz="21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sz="2100" b="1" dirty="0">
                <a:latin typeface="Times New Roman" panose="02020603050405020304" pitchFamily="18" charset="0"/>
                <a:cs typeface="Times New Roman" panose="02020603050405020304" pitchFamily="18" charset="0"/>
              </a:rPr>
              <a:t>Data cleaning, Visualization and Feature Extractions</a:t>
            </a:r>
            <a:endParaRPr lang="en-US" sz="21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sz="2100" b="1" dirty="0">
                <a:latin typeface="Times New Roman" panose="02020603050405020304" pitchFamily="18" charset="0"/>
                <a:cs typeface="Times New Roman" panose="02020603050405020304" pitchFamily="18" charset="0"/>
              </a:rPr>
              <a:t>Distinct machine-learning classification algorithms were used to build a classifier to predict the Disease.</a:t>
            </a:r>
            <a:endParaRPr lang="en-US" sz="21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sz="2100" b="1" dirty="0">
                <a:latin typeface="Times New Roman" panose="02020603050405020304" pitchFamily="18" charset="0"/>
                <a:cs typeface="Times New Roman" panose="02020603050405020304" pitchFamily="18" charset="0"/>
              </a:rPr>
              <a:t>Modelling the data with classifiers </a:t>
            </a:r>
            <a:endParaRPr lang="en-US" sz="21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sz="2100" b="1" dirty="0">
                <a:latin typeface="Times New Roman" panose="02020603050405020304" pitchFamily="18" charset="0"/>
                <a:cs typeface="Times New Roman" panose="02020603050405020304" pitchFamily="18" charset="0"/>
              </a:rPr>
              <a:t>Performance Evaluation and Predictions</a:t>
            </a:r>
            <a:endParaRPr lang="en-US" sz="2100" b="1" dirty="0">
              <a:latin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pPr>
            <a:r>
              <a:rPr lang="en-IN" sz="2100" b="1" dirty="0">
                <a:latin typeface="Times New Roman" panose="02020603050405020304" pitchFamily="18" charset="0"/>
                <a:cs typeface="Times New Roman" panose="02020603050405020304" pitchFamily="18" charset="0"/>
              </a:rPr>
              <a:t>Building a web application to demonstrate the output.</a:t>
            </a:r>
            <a:endParaRPr lang="en-US" sz="2100" b="1" dirty="0">
              <a:latin typeface="Times New Roman" panose="02020603050405020304" pitchFamily="18" charset="0"/>
              <a:cs typeface="Times New Roman" panose="02020603050405020304" pitchFamily="18" charset="0"/>
            </a:endParaRPr>
          </a:p>
        </p:txBody>
      </p:sp>
      <p:pic>
        <p:nvPicPr>
          <p:cNvPr id="4098" name="Picture 2" descr="I THINK MY CHILD HAS AUTISM WHAT DO I DO NOW?: My child has Autism and I  don't know where to start or what to do next. I need help with m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5502" y="103245"/>
            <a:ext cx="6529103" cy="10134040"/>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3"/>
          <p:cNvGrpSpPr/>
          <p:nvPr/>
        </p:nvGrpSpPr>
        <p:grpSpPr>
          <a:xfrm rot="-1772257">
            <a:off x="11542520" y="5094404"/>
            <a:ext cx="1300918" cy="5290765"/>
            <a:chOff x="0" y="0"/>
            <a:chExt cx="444781" cy="1965522"/>
          </a:xfrm>
        </p:grpSpPr>
        <p:sp>
          <p:nvSpPr>
            <p:cNvPr id="14" name="Freeform 14"/>
            <p:cNvSpPr/>
            <p:nvPr/>
          </p:nvSpPr>
          <p:spPr>
            <a:xfrm>
              <a:off x="0" y="0"/>
              <a:ext cx="444781" cy="1965522"/>
            </a:xfrm>
            <a:custGeom>
              <a:avLst/>
              <a:gdLst/>
              <a:ahLst/>
              <a:cxnLst/>
              <a:rect l="l" t="t" r="r" b="b"/>
              <a:pathLst>
                <a:path w="444781" h="1965522">
                  <a:moveTo>
                    <a:pt x="0" y="0"/>
                  </a:moveTo>
                  <a:lnTo>
                    <a:pt x="444781" y="0"/>
                  </a:lnTo>
                  <a:lnTo>
                    <a:pt x="444781" y="1965522"/>
                  </a:lnTo>
                  <a:lnTo>
                    <a:pt x="0" y="1965522"/>
                  </a:lnTo>
                  <a:close/>
                </a:path>
              </a:pathLst>
            </a:custGeom>
            <a:solidFill>
              <a:srgbClr val="FFBC00"/>
            </a:solidFill>
          </p:spPr>
        </p:sp>
        <p:sp>
          <p:nvSpPr>
            <p:cNvPr id="15" name="TextBox 15"/>
            <p:cNvSpPr txBox="1"/>
            <p:nvPr/>
          </p:nvSpPr>
          <p:spPr>
            <a:xfrm>
              <a:off x="0" y="-57150"/>
              <a:ext cx="444781" cy="2022672"/>
            </a:xfrm>
            <a:prstGeom prst="rect">
              <a:avLst/>
            </a:prstGeom>
          </p:spPr>
          <p:txBody>
            <a:bodyPr lIns="50800" tIns="50800" rIns="50800" bIns="50800" rtlCol="0" anchor="ctr"/>
            <a:lstStyle/>
            <a:p>
              <a:pPr algn="ctr">
                <a:lnSpc>
                  <a:spcPts val="2659"/>
                </a:lnSpc>
              </a:pPr>
              <a:endParaRPr dirty="0"/>
            </a:p>
          </p:txBody>
        </p:sp>
      </p:grpSp>
      <p:grpSp>
        <p:nvGrpSpPr>
          <p:cNvPr id="16" name="Group 16"/>
          <p:cNvGrpSpPr/>
          <p:nvPr/>
        </p:nvGrpSpPr>
        <p:grpSpPr>
          <a:xfrm rot="997894">
            <a:off x="11168046" y="63931"/>
            <a:ext cx="1322778" cy="6368333"/>
            <a:chOff x="0" y="0"/>
            <a:chExt cx="463116" cy="1772338"/>
          </a:xfrm>
        </p:grpSpPr>
        <p:sp>
          <p:nvSpPr>
            <p:cNvPr id="17" name="Freeform 17"/>
            <p:cNvSpPr/>
            <p:nvPr/>
          </p:nvSpPr>
          <p:spPr>
            <a:xfrm>
              <a:off x="0" y="0"/>
              <a:ext cx="463116" cy="1772338"/>
            </a:xfrm>
            <a:custGeom>
              <a:avLst/>
              <a:gdLst/>
              <a:ahLst/>
              <a:cxnLst/>
              <a:rect l="l" t="t" r="r" b="b"/>
              <a:pathLst>
                <a:path w="463116" h="1772338">
                  <a:moveTo>
                    <a:pt x="0" y="0"/>
                  </a:moveTo>
                  <a:lnTo>
                    <a:pt x="463116" y="0"/>
                  </a:lnTo>
                  <a:lnTo>
                    <a:pt x="463116" y="1772338"/>
                  </a:lnTo>
                  <a:lnTo>
                    <a:pt x="0" y="1772338"/>
                  </a:lnTo>
                  <a:close/>
                </a:path>
              </a:pathLst>
            </a:custGeom>
            <a:solidFill>
              <a:srgbClr val="FFBC00"/>
            </a:solidFill>
          </p:spPr>
        </p:sp>
        <p:sp>
          <p:nvSpPr>
            <p:cNvPr id="18" name="TextBox 18"/>
            <p:cNvSpPr txBox="1"/>
            <p:nvPr/>
          </p:nvSpPr>
          <p:spPr>
            <a:xfrm>
              <a:off x="0" y="-57150"/>
              <a:ext cx="463116" cy="1829488"/>
            </a:xfrm>
            <a:prstGeom prst="rect">
              <a:avLst/>
            </a:prstGeom>
          </p:spPr>
          <p:txBody>
            <a:bodyPr lIns="50800" tIns="50800" rIns="50800" bIns="50800" rtlCol="0" anchor="ctr"/>
            <a:lstStyle/>
            <a:p>
              <a:pPr algn="ctr">
                <a:lnSpc>
                  <a:spcPts val="2659"/>
                </a:lnSpc>
              </a:pPr>
              <a:endParaRPr dirty="0"/>
            </a:p>
          </p:txBody>
        </p:sp>
      </p:grpSp>
      <p:grpSp>
        <p:nvGrpSpPr>
          <p:cNvPr id="8" name="Group 8"/>
          <p:cNvGrpSpPr/>
          <p:nvPr/>
        </p:nvGrpSpPr>
        <p:grpSpPr>
          <a:xfrm rot="10799999">
            <a:off x="9490129" y="6439990"/>
            <a:ext cx="4267200" cy="3871443"/>
            <a:chOff x="0" y="0"/>
            <a:chExt cx="812800" cy="711200"/>
          </a:xfrm>
        </p:grpSpPr>
        <p:sp>
          <p:nvSpPr>
            <p:cNvPr id="9" name="Freeform 9"/>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3D60"/>
            </a:solidFill>
          </p:spPr>
        </p:sp>
        <p:sp>
          <p:nvSpPr>
            <p:cNvPr id="10" name="TextBox 10"/>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dirty="0"/>
            </a:p>
          </p:txBody>
        </p:sp>
      </p:grpSp>
    </p:spTree>
    <p:extLst>
      <p:ext uri="{BB962C8B-B14F-4D97-AF65-F5344CB8AC3E}">
        <p14:creationId xmlns:p14="http://schemas.microsoft.com/office/powerpoint/2010/main" val="2479877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36"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280626" y="893377"/>
            <a:ext cx="9784422" cy="2057400"/>
            <a:chOff x="0" y="0"/>
            <a:chExt cx="2576967" cy="541867"/>
          </a:xfrm>
        </p:grpSpPr>
        <p:sp>
          <p:nvSpPr>
            <p:cNvPr id="4" name="Freeform 4"/>
            <p:cNvSpPr/>
            <p:nvPr/>
          </p:nvSpPr>
          <p:spPr>
            <a:xfrm>
              <a:off x="0" y="0"/>
              <a:ext cx="2576967" cy="541867"/>
            </a:xfrm>
            <a:custGeom>
              <a:avLst/>
              <a:gdLst/>
              <a:ahLst/>
              <a:cxnLst/>
              <a:rect l="l" t="t" r="r" b="b"/>
              <a:pathLst>
                <a:path w="2576967" h="541867">
                  <a:moveTo>
                    <a:pt x="72795" y="0"/>
                  </a:moveTo>
                  <a:lnTo>
                    <a:pt x="2504172" y="0"/>
                  </a:lnTo>
                  <a:cubicBezTo>
                    <a:pt x="2544376" y="0"/>
                    <a:pt x="2576967" y="32591"/>
                    <a:pt x="2576967" y="72795"/>
                  </a:cubicBezTo>
                  <a:lnTo>
                    <a:pt x="2576967" y="469072"/>
                  </a:lnTo>
                  <a:cubicBezTo>
                    <a:pt x="2576967" y="509275"/>
                    <a:pt x="2544376" y="541867"/>
                    <a:pt x="2504172" y="541867"/>
                  </a:cubicBezTo>
                  <a:lnTo>
                    <a:pt x="72795" y="541867"/>
                  </a:lnTo>
                  <a:cubicBezTo>
                    <a:pt x="32591" y="541867"/>
                    <a:pt x="0" y="509275"/>
                    <a:pt x="0" y="469072"/>
                  </a:cubicBezTo>
                  <a:lnTo>
                    <a:pt x="0" y="72795"/>
                  </a:lnTo>
                  <a:cubicBezTo>
                    <a:pt x="0" y="32591"/>
                    <a:pt x="32591" y="0"/>
                    <a:pt x="72795" y="0"/>
                  </a:cubicBezTo>
                  <a:close/>
                </a:path>
              </a:pathLst>
            </a:custGeom>
            <a:solidFill>
              <a:srgbClr val="FFBC00"/>
            </a:solidFill>
          </p:spPr>
        </p:sp>
        <p:sp>
          <p:nvSpPr>
            <p:cNvPr id="5" name="TextBox 5"/>
            <p:cNvSpPr txBox="1"/>
            <p:nvPr/>
          </p:nvSpPr>
          <p:spPr>
            <a:xfrm>
              <a:off x="0" y="-57150"/>
              <a:ext cx="2576967" cy="599017"/>
            </a:xfrm>
            <a:prstGeom prst="rect">
              <a:avLst/>
            </a:prstGeom>
          </p:spPr>
          <p:txBody>
            <a:bodyPr lIns="50800" tIns="50800" rIns="50800" bIns="50800" rtlCol="0" anchor="ctr"/>
            <a:lstStyle/>
            <a:p>
              <a:pPr algn="ctr">
                <a:lnSpc>
                  <a:spcPts val="2659"/>
                </a:lnSpc>
              </a:pPr>
              <a:endParaRPr dirty="0"/>
            </a:p>
          </p:txBody>
        </p:sp>
      </p:grpSp>
      <p:grpSp>
        <p:nvGrpSpPr>
          <p:cNvPr id="8" name="Group 8"/>
          <p:cNvGrpSpPr/>
          <p:nvPr/>
        </p:nvGrpSpPr>
        <p:grpSpPr>
          <a:xfrm rot="10799999">
            <a:off x="9144000" y="6390939"/>
            <a:ext cx="5443005" cy="4762630"/>
            <a:chOff x="0" y="0"/>
            <a:chExt cx="812800" cy="711200"/>
          </a:xfrm>
        </p:grpSpPr>
        <p:sp>
          <p:nvSpPr>
            <p:cNvPr id="9" name="Freeform 9"/>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3D60"/>
            </a:solidFill>
          </p:spPr>
        </p:sp>
        <p:sp>
          <p:nvSpPr>
            <p:cNvPr id="10" name="TextBox 10"/>
            <p:cNvSpPr txBox="1"/>
            <p:nvPr/>
          </p:nvSpPr>
          <p:spPr>
            <a:xfrm>
              <a:off x="127000" y="-6350"/>
              <a:ext cx="558800" cy="387350"/>
            </a:xfrm>
            <a:prstGeom prst="rect">
              <a:avLst/>
            </a:prstGeom>
          </p:spPr>
          <p:txBody>
            <a:bodyPr lIns="50800" tIns="50800" rIns="50800" bIns="50800" rtlCol="0" anchor="ctr"/>
            <a:lstStyle/>
            <a:p>
              <a:pPr algn="ctr">
                <a:lnSpc>
                  <a:spcPts val="2659"/>
                </a:lnSpc>
              </a:pPr>
              <a:endParaRPr dirty="0"/>
            </a:p>
          </p:txBody>
        </p:sp>
      </p:grpSp>
      <p:sp>
        <p:nvSpPr>
          <p:cNvPr id="11" name="Freeform 11"/>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3">
              <a:alphaModFix amt="55000"/>
            </a:blip>
            <a:stretch>
              <a:fillRect/>
            </a:stretch>
          </a:blipFill>
        </p:spPr>
      </p:sp>
      <p:sp>
        <p:nvSpPr>
          <p:cNvPr id="12" name="Freeform 12"/>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3">
              <a:alphaModFix amt="55000"/>
            </a:blip>
            <a:stretch>
              <a:fillRect/>
            </a:stretch>
          </a:blipFill>
        </p:spPr>
      </p:sp>
      <p:grpSp>
        <p:nvGrpSpPr>
          <p:cNvPr id="13" name="Group 13"/>
          <p:cNvGrpSpPr/>
          <p:nvPr/>
        </p:nvGrpSpPr>
        <p:grpSpPr>
          <a:xfrm rot="-1772257">
            <a:off x="12135696" y="4601422"/>
            <a:ext cx="1688777" cy="7462842"/>
            <a:chOff x="0" y="0"/>
            <a:chExt cx="444781" cy="1965522"/>
          </a:xfrm>
        </p:grpSpPr>
        <p:sp>
          <p:nvSpPr>
            <p:cNvPr id="14" name="Freeform 14"/>
            <p:cNvSpPr/>
            <p:nvPr/>
          </p:nvSpPr>
          <p:spPr>
            <a:xfrm>
              <a:off x="0" y="0"/>
              <a:ext cx="444781" cy="1965522"/>
            </a:xfrm>
            <a:custGeom>
              <a:avLst/>
              <a:gdLst/>
              <a:ahLst/>
              <a:cxnLst/>
              <a:rect l="l" t="t" r="r" b="b"/>
              <a:pathLst>
                <a:path w="444781" h="1965522">
                  <a:moveTo>
                    <a:pt x="0" y="0"/>
                  </a:moveTo>
                  <a:lnTo>
                    <a:pt x="444781" y="0"/>
                  </a:lnTo>
                  <a:lnTo>
                    <a:pt x="444781" y="1965522"/>
                  </a:lnTo>
                  <a:lnTo>
                    <a:pt x="0" y="1965522"/>
                  </a:lnTo>
                  <a:close/>
                </a:path>
              </a:pathLst>
            </a:custGeom>
            <a:solidFill>
              <a:srgbClr val="FFBC00"/>
            </a:solidFill>
          </p:spPr>
        </p:sp>
        <p:sp>
          <p:nvSpPr>
            <p:cNvPr id="15" name="TextBox 15"/>
            <p:cNvSpPr txBox="1"/>
            <p:nvPr/>
          </p:nvSpPr>
          <p:spPr>
            <a:xfrm>
              <a:off x="0" y="-57150"/>
              <a:ext cx="444781" cy="2022672"/>
            </a:xfrm>
            <a:prstGeom prst="rect">
              <a:avLst/>
            </a:prstGeom>
          </p:spPr>
          <p:txBody>
            <a:bodyPr lIns="50800" tIns="50800" rIns="50800" bIns="50800" rtlCol="0" anchor="ctr"/>
            <a:lstStyle/>
            <a:p>
              <a:pPr algn="ctr">
                <a:lnSpc>
                  <a:spcPts val="2659"/>
                </a:lnSpc>
              </a:pPr>
              <a:endParaRPr dirty="0"/>
            </a:p>
          </p:txBody>
        </p:sp>
      </p:grpSp>
      <p:grpSp>
        <p:nvGrpSpPr>
          <p:cNvPr id="16" name="Group 16"/>
          <p:cNvGrpSpPr/>
          <p:nvPr/>
        </p:nvGrpSpPr>
        <p:grpSpPr>
          <a:xfrm rot="997894">
            <a:off x="11299656" y="-995263"/>
            <a:ext cx="1758392" cy="6729346"/>
            <a:chOff x="0" y="0"/>
            <a:chExt cx="463116" cy="1772338"/>
          </a:xfrm>
        </p:grpSpPr>
        <p:sp>
          <p:nvSpPr>
            <p:cNvPr id="17" name="Freeform 17"/>
            <p:cNvSpPr/>
            <p:nvPr/>
          </p:nvSpPr>
          <p:spPr>
            <a:xfrm>
              <a:off x="0" y="0"/>
              <a:ext cx="463116" cy="1772338"/>
            </a:xfrm>
            <a:custGeom>
              <a:avLst/>
              <a:gdLst/>
              <a:ahLst/>
              <a:cxnLst/>
              <a:rect l="l" t="t" r="r" b="b"/>
              <a:pathLst>
                <a:path w="463116" h="1772338">
                  <a:moveTo>
                    <a:pt x="0" y="0"/>
                  </a:moveTo>
                  <a:lnTo>
                    <a:pt x="463116" y="0"/>
                  </a:lnTo>
                  <a:lnTo>
                    <a:pt x="463116" y="1772338"/>
                  </a:lnTo>
                  <a:lnTo>
                    <a:pt x="0" y="1772338"/>
                  </a:lnTo>
                  <a:close/>
                </a:path>
              </a:pathLst>
            </a:custGeom>
            <a:solidFill>
              <a:srgbClr val="FFBC00"/>
            </a:solidFill>
          </p:spPr>
        </p:sp>
        <p:sp>
          <p:nvSpPr>
            <p:cNvPr id="18" name="TextBox 18"/>
            <p:cNvSpPr txBox="1"/>
            <p:nvPr/>
          </p:nvSpPr>
          <p:spPr>
            <a:xfrm>
              <a:off x="0" y="-57150"/>
              <a:ext cx="463116" cy="1829488"/>
            </a:xfrm>
            <a:prstGeom prst="rect">
              <a:avLst/>
            </a:prstGeom>
          </p:spPr>
          <p:txBody>
            <a:bodyPr lIns="50800" tIns="50800" rIns="50800" bIns="50800" rtlCol="0" anchor="ctr"/>
            <a:lstStyle/>
            <a:p>
              <a:pPr algn="ctr">
                <a:lnSpc>
                  <a:spcPts val="2659"/>
                </a:lnSpc>
              </a:pPr>
              <a:endParaRPr dirty="0"/>
            </a:p>
          </p:txBody>
        </p:sp>
      </p:grpSp>
      <p:sp>
        <p:nvSpPr>
          <p:cNvPr id="19" name="TextBox 19"/>
          <p:cNvSpPr txBox="1"/>
          <p:nvPr/>
        </p:nvSpPr>
        <p:spPr>
          <a:xfrm>
            <a:off x="1028700" y="1335891"/>
            <a:ext cx="7402224" cy="692497"/>
          </a:xfrm>
          <a:prstGeom prst="rect">
            <a:avLst/>
          </a:prstGeom>
        </p:spPr>
        <p:txBody>
          <a:bodyPr lIns="0" tIns="0" rIns="0" bIns="0" rtlCol="0" anchor="t">
            <a:spAutoFit/>
          </a:bodyPr>
          <a:lstStyle/>
          <a:p>
            <a:pPr algn="ctr">
              <a:lnSpc>
                <a:spcPts val="5400"/>
              </a:lnSpc>
            </a:pPr>
            <a:r>
              <a:rPr lang="en-US" sz="4500" dirty="0" smtClean="0">
                <a:solidFill>
                  <a:srgbClr val="000000"/>
                </a:solidFill>
                <a:latin typeface="Times New Roman" panose="02020603050405020304" pitchFamily="18" charset="0"/>
                <a:cs typeface="Times New Roman" panose="02020603050405020304" pitchFamily="18" charset="0"/>
              </a:rPr>
              <a:t>EXSITING SYSTEM</a:t>
            </a:r>
            <a:endParaRPr lang="en-US" sz="4500" dirty="0">
              <a:solidFill>
                <a:srgbClr val="000000"/>
              </a:solidFill>
              <a:latin typeface="Times New Roman" panose="02020603050405020304" pitchFamily="18" charset="0"/>
              <a:cs typeface="Times New Roman" panose="02020603050405020304" pitchFamily="18" charset="0"/>
            </a:endParaRPr>
          </a:p>
        </p:txBody>
      </p:sp>
      <p:sp>
        <p:nvSpPr>
          <p:cNvPr id="20" name="TextBox 20"/>
          <p:cNvSpPr txBox="1"/>
          <p:nvPr/>
        </p:nvSpPr>
        <p:spPr>
          <a:xfrm>
            <a:off x="1028700" y="3378703"/>
            <a:ext cx="7924764" cy="377091"/>
          </a:xfrm>
          <a:prstGeom prst="rect">
            <a:avLst/>
          </a:prstGeom>
        </p:spPr>
        <p:txBody>
          <a:bodyPr lIns="0" tIns="0" rIns="0" bIns="0" rtlCol="0" anchor="t">
            <a:spAutoFit/>
          </a:bodyPr>
          <a:lstStyle/>
          <a:p>
            <a:pPr algn="just">
              <a:lnSpc>
                <a:spcPts val="3079"/>
              </a:lnSpc>
              <a:spcBef>
                <a:spcPct val="0"/>
              </a:spcBef>
            </a:pPr>
            <a:r>
              <a:rPr lang="en-US" sz="2199" dirty="0" smtClean="0">
                <a:solidFill>
                  <a:srgbClr val="000000"/>
                </a:solidFill>
                <a:latin typeface="Poppins"/>
              </a:rPr>
              <a:t>. </a:t>
            </a:r>
            <a:endParaRPr lang="en-US" sz="2199" dirty="0">
              <a:solidFill>
                <a:srgbClr val="000000"/>
              </a:solidFill>
              <a:latin typeface="Poppins"/>
            </a:endParaRPr>
          </a:p>
        </p:txBody>
      </p:sp>
      <p:sp>
        <p:nvSpPr>
          <p:cNvPr id="21" name="TextBox 21"/>
          <p:cNvSpPr txBox="1"/>
          <p:nvPr/>
        </p:nvSpPr>
        <p:spPr>
          <a:xfrm>
            <a:off x="1028700" y="5580679"/>
            <a:ext cx="7924764" cy="377091"/>
          </a:xfrm>
          <a:prstGeom prst="rect">
            <a:avLst/>
          </a:prstGeom>
        </p:spPr>
        <p:txBody>
          <a:bodyPr lIns="0" tIns="0" rIns="0" bIns="0" rtlCol="0" anchor="t">
            <a:spAutoFit/>
          </a:bodyPr>
          <a:lstStyle/>
          <a:p>
            <a:pPr algn="just">
              <a:lnSpc>
                <a:spcPts val="3079"/>
              </a:lnSpc>
              <a:spcBef>
                <a:spcPct val="0"/>
              </a:spcBef>
            </a:pPr>
            <a:r>
              <a:rPr lang="en-US" sz="2199" dirty="0" smtClean="0">
                <a:solidFill>
                  <a:srgbClr val="000000"/>
                </a:solidFill>
                <a:latin typeface="Poppins"/>
              </a:rPr>
              <a:t>.</a:t>
            </a:r>
            <a:endParaRPr lang="en-US" sz="2199" dirty="0">
              <a:solidFill>
                <a:srgbClr val="000000"/>
              </a:solidFill>
              <a:latin typeface="Poppins"/>
            </a:endParaRPr>
          </a:p>
        </p:txBody>
      </p:sp>
      <p:sp>
        <p:nvSpPr>
          <p:cNvPr id="22" name="TextBox 22"/>
          <p:cNvSpPr txBox="1"/>
          <p:nvPr/>
        </p:nvSpPr>
        <p:spPr>
          <a:xfrm>
            <a:off x="1028700" y="7392130"/>
            <a:ext cx="7924764" cy="377091"/>
          </a:xfrm>
          <a:prstGeom prst="rect">
            <a:avLst/>
          </a:prstGeom>
        </p:spPr>
        <p:txBody>
          <a:bodyPr lIns="0" tIns="0" rIns="0" bIns="0" rtlCol="0" anchor="t">
            <a:spAutoFit/>
          </a:bodyPr>
          <a:lstStyle/>
          <a:p>
            <a:pPr algn="just">
              <a:lnSpc>
                <a:spcPts val="3079"/>
              </a:lnSpc>
              <a:spcBef>
                <a:spcPct val="0"/>
              </a:spcBef>
            </a:pPr>
            <a:r>
              <a:rPr lang="en-US" sz="2199" dirty="0" smtClean="0">
                <a:solidFill>
                  <a:srgbClr val="000000"/>
                </a:solidFill>
                <a:latin typeface="Poppins"/>
              </a:rPr>
              <a:t>.</a:t>
            </a:r>
            <a:endParaRPr lang="en-US" sz="2199" dirty="0">
              <a:solidFill>
                <a:srgbClr val="000000"/>
              </a:solidFill>
              <a:latin typeface="Poppins"/>
            </a:endParaRPr>
          </a:p>
        </p:txBody>
      </p:sp>
      <p:sp>
        <p:nvSpPr>
          <p:cNvPr id="25" name="Rectangle 24"/>
          <p:cNvSpPr/>
          <p:nvPr/>
        </p:nvSpPr>
        <p:spPr>
          <a:xfrm>
            <a:off x="792898" y="4565206"/>
            <a:ext cx="9144000" cy="3349956"/>
          </a:xfrm>
          <a:prstGeom prst="rect">
            <a:avLst/>
          </a:prstGeom>
        </p:spPr>
        <p:txBody>
          <a:bodyPr>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The major part of the existing literature on autism spectrum disorder is covered by a prediction system based on traditional machine learning algorithms such as Linear Regression, Logistic Regression, multiple layer perceptron and deep neural network.</a:t>
            </a:r>
            <a:endParaRPr lang="en-US" sz="2400" b="1" dirty="0">
              <a:latin typeface="Times New Roman" panose="02020603050405020304" pitchFamily="18" charset="0"/>
              <a:cs typeface="Times New Roman" panose="02020603050405020304" pitchFamily="18" charset="0"/>
            </a:endParaRPr>
          </a:p>
          <a:p>
            <a:pPr algn="just">
              <a:lnSpc>
                <a:spcPct val="150000"/>
              </a:lnSpc>
            </a:pPr>
            <a:r>
              <a:rPr lang="en-IN" sz="2400" b="1" dirty="0">
                <a:latin typeface="Times New Roman" panose="02020603050405020304" pitchFamily="18" charset="0"/>
                <a:cs typeface="Times New Roman" panose="02020603050405020304" pitchFamily="18" charset="0"/>
              </a:rPr>
              <a:t>Using these machine learning model achieving very less accuracy such 67 to 72% with less precision, recall and F1 Square.</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4">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4">
              <a:alphaModFix amt="55000"/>
            </a:blip>
            <a:stretch>
              <a:fillRect/>
            </a:stretch>
          </a:blipFill>
        </p:spPr>
      </p:sp>
      <p:grpSp>
        <p:nvGrpSpPr>
          <p:cNvPr id="16" name="Group 16"/>
          <p:cNvGrpSpPr/>
          <p:nvPr/>
        </p:nvGrpSpPr>
        <p:grpSpPr>
          <a:xfrm>
            <a:off x="4138983" y="467408"/>
            <a:ext cx="9588280" cy="1186881"/>
            <a:chOff x="0" y="0"/>
            <a:chExt cx="2525308" cy="312594"/>
          </a:xfrm>
        </p:grpSpPr>
        <p:sp>
          <p:nvSpPr>
            <p:cNvPr id="17" name="Freeform 17"/>
            <p:cNvSpPr/>
            <p:nvPr/>
          </p:nvSpPr>
          <p:spPr>
            <a:xfrm>
              <a:off x="0" y="0"/>
              <a:ext cx="2525308" cy="312594"/>
            </a:xfrm>
            <a:custGeom>
              <a:avLst/>
              <a:gdLst/>
              <a:ahLst/>
              <a:cxnLst/>
              <a:rect l="l" t="t" r="r" b="b"/>
              <a:pathLst>
                <a:path w="2525308" h="312594">
                  <a:moveTo>
                    <a:pt x="74284" y="0"/>
                  </a:moveTo>
                  <a:lnTo>
                    <a:pt x="2451024" y="0"/>
                  </a:lnTo>
                  <a:cubicBezTo>
                    <a:pt x="2470726" y="0"/>
                    <a:pt x="2489620" y="7826"/>
                    <a:pt x="2503551" y="21757"/>
                  </a:cubicBezTo>
                  <a:cubicBezTo>
                    <a:pt x="2517482" y="35688"/>
                    <a:pt x="2525308" y="54583"/>
                    <a:pt x="2525308" y="74284"/>
                  </a:cubicBezTo>
                  <a:lnTo>
                    <a:pt x="2525308" y="238310"/>
                  </a:lnTo>
                  <a:cubicBezTo>
                    <a:pt x="2525308" y="258011"/>
                    <a:pt x="2517482" y="276906"/>
                    <a:pt x="2503551" y="290837"/>
                  </a:cubicBezTo>
                  <a:cubicBezTo>
                    <a:pt x="2489620" y="304768"/>
                    <a:pt x="2470726" y="312594"/>
                    <a:pt x="2451024" y="312594"/>
                  </a:cubicBezTo>
                  <a:lnTo>
                    <a:pt x="74284" y="312594"/>
                  </a:lnTo>
                  <a:cubicBezTo>
                    <a:pt x="33258" y="312594"/>
                    <a:pt x="0" y="279336"/>
                    <a:pt x="0" y="238310"/>
                  </a:cubicBezTo>
                  <a:lnTo>
                    <a:pt x="0" y="74284"/>
                  </a:lnTo>
                  <a:cubicBezTo>
                    <a:pt x="0" y="54583"/>
                    <a:pt x="7826" y="35688"/>
                    <a:pt x="21757" y="21757"/>
                  </a:cubicBezTo>
                  <a:cubicBezTo>
                    <a:pt x="35688" y="7826"/>
                    <a:pt x="54583" y="0"/>
                    <a:pt x="74284" y="0"/>
                  </a:cubicBezTo>
                  <a:close/>
                </a:path>
              </a:pathLst>
            </a:custGeom>
            <a:solidFill>
              <a:srgbClr val="FFBC00"/>
            </a:solidFill>
          </p:spPr>
        </p:sp>
        <p:sp>
          <p:nvSpPr>
            <p:cNvPr id="18" name="TextBox 18"/>
            <p:cNvSpPr txBox="1"/>
            <p:nvPr/>
          </p:nvSpPr>
          <p:spPr>
            <a:xfrm>
              <a:off x="0" y="-57150"/>
              <a:ext cx="2525308" cy="369744"/>
            </a:xfrm>
            <a:prstGeom prst="rect">
              <a:avLst/>
            </a:prstGeom>
          </p:spPr>
          <p:txBody>
            <a:bodyPr lIns="50800" tIns="50800" rIns="50800" bIns="50800" rtlCol="0" anchor="ctr"/>
            <a:lstStyle/>
            <a:p>
              <a:pPr algn="ctr">
                <a:lnSpc>
                  <a:spcPts val="2659"/>
                </a:lnSpc>
              </a:pPr>
              <a:endParaRPr dirty="0"/>
            </a:p>
          </p:txBody>
        </p:sp>
      </p:grpSp>
      <p:sp>
        <p:nvSpPr>
          <p:cNvPr id="24" name="TextBox 24"/>
          <p:cNvSpPr txBox="1"/>
          <p:nvPr/>
        </p:nvSpPr>
        <p:spPr>
          <a:xfrm>
            <a:off x="6096000" y="656891"/>
            <a:ext cx="6873994" cy="807913"/>
          </a:xfrm>
          <a:prstGeom prst="rect">
            <a:avLst/>
          </a:prstGeom>
        </p:spPr>
        <p:txBody>
          <a:bodyPr wrap="square" lIns="0" tIns="0" rIns="0" bIns="0" rtlCol="0" anchor="t">
            <a:spAutoFit/>
          </a:bodyPr>
          <a:lstStyle/>
          <a:p>
            <a:pPr>
              <a:lnSpc>
                <a:spcPts val="6299"/>
              </a:lnSpc>
            </a:pPr>
            <a:r>
              <a:rPr lang="en-US" sz="4500" dirty="0" smtClean="0">
                <a:solidFill>
                  <a:srgbClr val="000000"/>
                </a:solidFill>
                <a:latin typeface="League Spartan Bold"/>
              </a:rPr>
              <a:t>PROPOSED SYSTEM</a:t>
            </a:r>
            <a:endParaRPr lang="en-US" sz="4500" dirty="0">
              <a:solidFill>
                <a:srgbClr val="000000"/>
              </a:solidFill>
              <a:latin typeface="League Spartan Bold"/>
            </a:endParaRPr>
          </a:p>
        </p:txBody>
      </p:sp>
      <p:sp>
        <p:nvSpPr>
          <p:cNvPr id="3" name="Rectangle 2"/>
          <p:cNvSpPr/>
          <p:nvPr/>
        </p:nvSpPr>
        <p:spPr>
          <a:xfrm>
            <a:off x="1600200" y="2609134"/>
            <a:ext cx="13106400" cy="6370975"/>
          </a:xfrm>
          <a:prstGeom prst="rect">
            <a:avLst/>
          </a:prstGeom>
        </p:spPr>
        <p:txBody>
          <a:bodyPr wrap="square">
            <a:spAutoFit/>
          </a:bodyPr>
          <a:lstStyle/>
          <a:p>
            <a:pPr marL="285750" indent="-285750" algn="just">
              <a:lnSpc>
                <a:spcPct val="200000"/>
              </a:lnSpc>
              <a:buFont typeface="Arial" panose="020B0604020202020204" pitchFamily="34" charset="0"/>
              <a:buChar char="•"/>
            </a:pPr>
            <a:r>
              <a:rPr lang="en-IN" sz="2400" b="1" dirty="0" smtClean="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In this Project, autism spectrum disorder prediction has been investigated and compared using common parameters such as application type, simulation method, comparison methodology, and input data. </a:t>
            </a:r>
          </a:p>
          <a:p>
            <a:pPr marL="285750" indent="-28575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The key purpose of this study is to give a centralized framework to use for researchers working on autism spectrum disorder prediction. </a:t>
            </a:r>
          </a:p>
          <a:p>
            <a:pPr marL="285750" indent="-285750" algn="just">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Here we developed Random Forest, Support vector machine and KNN Algorithm to achieve good performance and evaluation of the model.</a:t>
            </a:r>
          </a:p>
          <a:p>
            <a:pPr marL="285750" indent="-285750" algn="just">
              <a:lnSpc>
                <a:spcPct val="200000"/>
              </a:lnSpc>
              <a:buFont typeface="Arial" panose="020B0604020202020204" pitchFamily="34" charset="0"/>
              <a:buChar char="•"/>
            </a:pPr>
            <a:r>
              <a:rPr lang="en-IN" sz="2400" b="1" dirty="0" smtClean="0">
                <a:latin typeface="Times New Roman" panose="02020603050405020304" pitchFamily="18" charset="0"/>
                <a:cs typeface="Times New Roman" panose="02020603050405020304" pitchFamily="18" charset="0"/>
              </a:rPr>
              <a:t>The proposed models are validated by using performance measurement parameters such as accuracy, precision, and recall.</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079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4">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4">
              <a:alphaModFix amt="55000"/>
            </a:blip>
            <a:stretch>
              <a:fillRect/>
            </a:stretch>
          </a:blipFill>
        </p:spPr>
      </p:sp>
      <p:pic>
        <p:nvPicPr>
          <p:cNvPr id="10" name="Picture 9">
            <a:extLst>
              <a:ext uri="{FF2B5EF4-FFF2-40B4-BE49-F238E27FC236}">
                <a16:creationId xmlns:a16="http://schemas.microsoft.com/office/drawing/2014/main" xmlns="" id="{15A8047A-5540-85D4-E28D-4BAFBEB605DB}"/>
              </a:ext>
            </a:extLst>
          </p:cNvPr>
          <p:cNvPicPr>
            <a:picLocks noChangeAspect="1"/>
          </p:cNvPicPr>
          <p:nvPr/>
        </p:nvPicPr>
        <p:blipFill rotWithShape="1">
          <a:blip r:embed="rId5">
            <a:extLst>
              <a:ext uri="{28A0092B-C50C-407E-A947-70E740481C1C}">
                <a14:useLocalDpi xmlns:a14="http://schemas.microsoft.com/office/drawing/2010/main" val="0"/>
              </a:ext>
            </a:extLst>
          </a:blip>
          <a:srcRect l="33071" t="26590" r="17904" b="10183"/>
          <a:stretch/>
        </p:blipFill>
        <p:spPr bwMode="auto">
          <a:xfrm>
            <a:off x="3048000" y="419100"/>
            <a:ext cx="12536708" cy="909345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2871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13" y="710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4">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4">
              <a:alphaModFix amt="55000"/>
            </a:blip>
            <a:stretch>
              <a:fillRect/>
            </a:stretch>
          </a:blipFill>
        </p:spPr>
      </p:sp>
      <p:sp>
        <p:nvSpPr>
          <p:cNvPr id="10" name="TextBox 9">
            <a:extLst>
              <a:ext uri="{FF2B5EF4-FFF2-40B4-BE49-F238E27FC236}">
                <a16:creationId xmlns:a16="http://schemas.microsoft.com/office/drawing/2014/main" xmlns="" id="{C23ABF29-29C2-F3C1-BC09-2DA7444799E4}"/>
              </a:ext>
            </a:extLst>
          </p:cNvPr>
          <p:cNvSpPr txBox="1"/>
          <p:nvPr/>
        </p:nvSpPr>
        <p:spPr>
          <a:xfrm>
            <a:off x="4267200" y="467526"/>
            <a:ext cx="12070238" cy="584775"/>
          </a:xfrm>
          <a:prstGeom prst="rect">
            <a:avLst/>
          </a:prstGeom>
          <a:noFill/>
        </p:spPr>
        <p:txBody>
          <a:bodyPr wrap="square">
            <a:spAutoFit/>
          </a:bodyPr>
          <a:lstStyle/>
          <a:p>
            <a:r>
              <a:rPr lang="en-US" sz="3200" b="1" dirty="0">
                <a:solidFill>
                  <a:srgbClr val="FF0000"/>
                </a:solidFill>
              </a:rPr>
              <a:t>SYSTEM DESIGN – DATAFLOW DIAGRAM-LEVEL0</a:t>
            </a:r>
            <a:endParaRPr lang="en-IN" sz="3200" dirty="0">
              <a:solidFill>
                <a:srgbClr val="FF0000"/>
              </a:solidFill>
            </a:endParaRPr>
          </a:p>
        </p:txBody>
      </p:sp>
      <p:pic>
        <p:nvPicPr>
          <p:cNvPr id="11" name="Picture 10">
            <a:extLst>
              <a:ext uri="{FF2B5EF4-FFF2-40B4-BE49-F238E27FC236}">
                <a16:creationId xmlns:a16="http://schemas.microsoft.com/office/drawing/2014/main" xmlns="" id="{4FFEFA5A-69DC-EDCE-9318-7F4AACFD9568}"/>
              </a:ext>
            </a:extLst>
          </p:cNvPr>
          <p:cNvPicPr>
            <a:picLocks noChangeAspect="1"/>
          </p:cNvPicPr>
          <p:nvPr/>
        </p:nvPicPr>
        <p:blipFill rotWithShape="1">
          <a:blip r:embed="rId5"/>
          <a:srcRect l="24762" t="32782" r="12018" b="15348"/>
          <a:stretch/>
        </p:blipFill>
        <p:spPr>
          <a:xfrm>
            <a:off x="3490956" y="2578654"/>
            <a:ext cx="11668234" cy="5384245"/>
          </a:xfrm>
          <a:prstGeom prst="rect">
            <a:avLst/>
          </a:prstGeom>
        </p:spPr>
      </p:pic>
    </p:spTree>
    <p:extLst>
      <p:ext uri="{BB962C8B-B14F-4D97-AF65-F5344CB8AC3E}">
        <p14:creationId xmlns:p14="http://schemas.microsoft.com/office/powerpoint/2010/main" val="2901569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13" y="710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4">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4">
              <a:alphaModFix amt="55000"/>
            </a:blip>
            <a:stretch>
              <a:fillRect/>
            </a:stretch>
          </a:blipFill>
        </p:spPr>
      </p:sp>
      <p:sp>
        <p:nvSpPr>
          <p:cNvPr id="7" name="TextBox 6">
            <a:extLst>
              <a:ext uri="{FF2B5EF4-FFF2-40B4-BE49-F238E27FC236}">
                <a16:creationId xmlns:a16="http://schemas.microsoft.com/office/drawing/2014/main" xmlns="" id="{140640DB-5C3F-0FA0-FEB1-3D7EDBC61791}"/>
              </a:ext>
            </a:extLst>
          </p:cNvPr>
          <p:cNvSpPr txBox="1"/>
          <p:nvPr/>
        </p:nvSpPr>
        <p:spPr>
          <a:xfrm>
            <a:off x="4483508" y="571500"/>
            <a:ext cx="10284643" cy="646331"/>
          </a:xfrm>
          <a:prstGeom prst="rect">
            <a:avLst/>
          </a:prstGeom>
          <a:noFill/>
        </p:spPr>
        <p:txBody>
          <a:bodyPr wrap="square">
            <a:spAutoFit/>
          </a:bodyPr>
          <a:lstStyle/>
          <a:p>
            <a:r>
              <a:rPr lang="en-US" sz="3600" b="1" dirty="0">
                <a:solidFill>
                  <a:srgbClr val="FF0000"/>
                </a:solidFill>
              </a:rPr>
              <a:t>SYSTEM DESIGN – Dataflow Diagram-LEVEL1</a:t>
            </a:r>
            <a:endParaRPr lang="en-IN" sz="3600" dirty="0">
              <a:solidFill>
                <a:srgbClr val="FF0000"/>
              </a:solidFill>
            </a:endParaRPr>
          </a:p>
        </p:txBody>
      </p:sp>
      <p:pic>
        <p:nvPicPr>
          <p:cNvPr id="12" name="Picture 11">
            <a:extLst>
              <a:ext uri="{FF2B5EF4-FFF2-40B4-BE49-F238E27FC236}">
                <a16:creationId xmlns:a16="http://schemas.microsoft.com/office/drawing/2014/main" xmlns="" id="{7B418202-6682-4AB2-853F-678B468212D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0741" t="22927" r="4941" b="16564"/>
          <a:stretch/>
        </p:blipFill>
        <p:spPr bwMode="auto">
          <a:xfrm>
            <a:off x="1676400" y="1790927"/>
            <a:ext cx="15641420" cy="71628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13780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3">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3">
              <a:alphaModFix amt="55000"/>
            </a:blip>
            <a:stretch>
              <a:fillRect/>
            </a:stretch>
          </a:blipFill>
        </p:spPr>
      </p:sp>
      <p:sp>
        <p:nvSpPr>
          <p:cNvPr id="6" name="TextBox 5">
            <a:extLst>
              <a:ext uri="{FF2B5EF4-FFF2-40B4-BE49-F238E27FC236}">
                <a16:creationId xmlns:a16="http://schemas.microsoft.com/office/drawing/2014/main" xmlns="" id="{28E122EF-EAB0-B9FB-4F7E-929CDCB3D96F}"/>
              </a:ext>
            </a:extLst>
          </p:cNvPr>
          <p:cNvSpPr txBox="1"/>
          <p:nvPr/>
        </p:nvSpPr>
        <p:spPr>
          <a:xfrm>
            <a:off x="3505200" y="443919"/>
            <a:ext cx="9964917" cy="646331"/>
          </a:xfrm>
          <a:prstGeom prst="rect">
            <a:avLst/>
          </a:prstGeom>
          <a:noFill/>
        </p:spPr>
        <p:txBody>
          <a:bodyPr wrap="square">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SYSTEM DESIGN – </a:t>
            </a:r>
            <a:r>
              <a:rPr lang="en-IN" sz="36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USE-CASE DIAGRAM</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0FA1CC45-0C52-7427-4DD5-BB08F266FAF2}"/>
              </a:ext>
            </a:extLst>
          </p:cNvPr>
          <p:cNvPicPr>
            <a:picLocks noChangeAspect="1"/>
          </p:cNvPicPr>
          <p:nvPr/>
        </p:nvPicPr>
        <p:blipFill rotWithShape="1">
          <a:blip r:embed="rId4">
            <a:extLst>
              <a:ext uri="{28A0092B-C50C-407E-A947-70E740481C1C}">
                <a14:useLocalDpi xmlns:a14="http://schemas.microsoft.com/office/drawing/2010/main" val="0"/>
              </a:ext>
            </a:extLst>
          </a:blip>
          <a:srcRect l="32174" t="21273" r="19034" b="15383"/>
          <a:stretch/>
        </p:blipFill>
        <p:spPr bwMode="auto">
          <a:xfrm>
            <a:off x="4117100" y="2204991"/>
            <a:ext cx="10056099" cy="734269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63329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3">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3">
              <a:alphaModFix amt="55000"/>
            </a:blip>
            <a:stretch>
              <a:fillRect/>
            </a:stretch>
          </a:blipFill>
        </p:spPr>
      </p:sp>
      <p:sp>
        <p:nvSpPr>
          <p:cNvPr id="6" name="TextBox 5">
            <a:extLst>
              <a:ext uri="{FF2B5EF4-FFF2-40B4-BE49-F238E27FC236}">
                <a16:creationId xmlns:a16="http://schemas.microsoft.com/office/drawing/2014/main" xmlns="" id="{6C11E9FF-76EC-4D2A-1246-BDC321894D9C}"/>
              </a:ext>
            </a:extLst>
          </p:cNvPr>
          <p:cNvSpPr txBox="1"/>
          <p:nvPr/>
        </p:nvSpPr>
        <p:spPr>
          <a:xfrm>
            <a:off x="5181600" y="272551"/>
            <a:ext cx="6094428" cy="721736"/>
          </a:xfrm>
          <a:prstGeom prst="rect">
            <a:avLst/>
          </a:prstGeom>
          <a:noFill/>
        </p:spPr>
        <p:txBody>
          <a:bodyPr wrap="square">
            <a:spAutoFit/>
          </a:bodyPr>
          <a:lstStyle/>
          <a:p>
            <a:pPr algn="ctr">
              <a:lnSpc>
                <a:spcPct val="107000"/>
              </a:lnSpc>
              <a:spcAft>
                <a:spcPts val="800"/>
              </a:spcAft>
            </a:pPr>
            <a:r>
              <a:rPr lang="en-IN" sz="40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sz="40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xmlns="" id="{7303CF25-6DA5-D359-F7B4-98921F83AF0F}"/>
              </a:ext>
            </a:extLst>
          </p:cNvPr>
          <p:cNvPicPr>
            <a:picLocks noChangeAspect="1"/>
          </p:cNvPicPr>
          <p:nvPr/>
        </p:nvPicPr>
        <p:blipFill rotWithShape="1">
          <a:blip r:embed="rId4"/>
          <a:srcRect l="31838" t="43400" r="19191" b="22221"/>
          <a:stretch/>
        </p:blipFill>
        <p:spPr>
          <a:xfrm>
            <a:off x="1447800" y="2628900"/>
            <a:ext cx="14280530" cy="5638800"/>
          </a:xfrm>
          <a:prstGeom prst="rect">
            <a:avLst/>
          </a:prstGeom>
        </p:spPr>
      </p:pic>
    </p:spTree>
    <p:extLst>
      <p:ext uri="{BB962C8B-B14F-4D97-AF65-F5344CB8AC3E}">
        <p14:creationId xmlns:p14="http://schemas.microsoft.com/office/powerpoint/2010/main" val="3329253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163" y="-888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27" name="Freeform 27"/>
          <p:cNvSpPr/>
          <p:nvPr/>
        </p:nvSpPr>
        <p:spPr>
          <a:xfrm>
            <a:off x="4444228" y="2696146"/>
            <a:ext cx="9424454" cy="918884"/>
          </a:xfrm>
          <a:custGeom>
            <a:avLst/>
            <a:gdLst/>
            <a:ahLst/>
            <a:cxnLst/>
            <a:rect l="l" t="t" r="r" b="b"/>
            <a:pathLst>
              <a:path w="9424454" h="918884">
                <a:moveTo>
                  <a:pt x="0" y="0"/>
                </a:moveTo>
                <a:lnTo>
                  <a:pt x="9424454" y="0"/>
                </a:lnTo>
                <a:lnTo>
                  <a:pt x="9424454" y="918884"/>
                </a:lnTo>
                <a:lnTo>
                  <a:pt x="0" y="918884"/>
                </a:lnTo>
                <a:lnTo>
                  <a:pt x="0" y="0"/>
                </a:lnTo>
                <a:close/>
              </a:path>
            </a:pathLst>
          </a:custGeom>
          <a:blipFill>
            <a:blip r:embed="rId3"/>
            <a:stretch>
              <a:fillRect/>
            </a:stretch>
          </a:blipFill>
        </p:spPr>
      </p:sp>
      <p:grpSp>
        <p:nvGrpSpPr>
          <p:cNvPr id="28" name="Group 28"/>
          <p:cNvGrpSpPr/>
          <p:nvPr/>
        </p:nvGrpSpPr>
        <p:grpSpPr>
          <a:xfrm>
            <a:off x="3892888" y="374359"/>
            <a:ext cx="10555438" cy="1966535"/>
            <a:chOff x="0" y="0"/>
            <a:chExt cx="2780033" cy="517935"/>
          </a:xfrm>
        </p:grpSpPr>
        <p:sp>
          <p:nvSpPr>
            <p:cNvPr id="29" name="Freeform 29"/>
            <p:cNvSpPr/>
            <p:nvPr/>
          </p:nvSpPr>
          <p:spPr>
            <a:xfrm>
              <a:off x="0" y="0"/>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sp>
        <p:sp>
          <p:nvSpPr>
            <p:cNvPr id="30"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
        <p:nvSpPr>
          <p:cNvPr id="31" name="TextBox 31"/>
          <p:cNvSpPr txBox="1"/>
          <p:nvPr/>
        </p:nvSpPr>
        <p:spPr>
          <a:xfrm>
            <a:off x="5332405" y="718122"/>
            <a:ext cx="7402224" cy="1384995"/>
          </a:xfrm>
          <a:prstGeom prst="rect">
            <a:avLst/>
          </a:prstGeom>
        </p:spPr>
        <p:txBody>
          <a:bodyPr lIns="0" tIns="0" rIns="0" bIns="0" rtlCol="0" anchor="t">
            <a:spAutoFit/>
          </a:bodyPr>
          <a:lstStyle/>
          <a:p>
            <a:pPr algn="ctr">
              <a:lnSpc>
                <a:spcPts val="5400"/>
              </a:lnSpc>
            </a:pPr>
            <a:r>
              <a:rPr lang="en-US" sz="4500" dirty="0" smtClean="0">
                <a:solidFill>
                  <a:srgbClr val="000000"/>
                </a:solidFill>
                <a:latin typeface="League Spartan Bold"/>
              </a:rPr>
              <a:t>SYSTEM IMPLEMENTATION</a:t>
            </a:r>
            <a:endParaRPr lang="en-US" sz="4500" dirty="0">
              <a:solidFill>
                <a:srgbClr val="000000"/>
              </a:solidFill>
              <a:latin typeface="League Spartan Bold"/>
            </a:endParaRPr>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Rectangle 5"/>
          <p:cNvSpPr/>
          <p:nvPr/>
        </p:nvSpPr>
        <p:spPr>
          <a:xfrm>
            <a:off x="1143000" y="2779021"/>
            <a:ext cx="16154400" cy="2709909"/>
          </a:xfrm>
          <a:prstGeom prst="rect">
            <a:avLst/>
          </a:prstGeom>
        </p:spPr>
        <p:txBody>
          <a:bodyPr wrap="square">
            <a:spAutoFit/>
          </a:bodyPr>
          <a:lstStyle/>
          <a:p>
            <a:pPr>
              <a:lnSpc>
                <a:spcPct val="107000"/>
              </a:lnSpc>
              <a:spcAft>
                <a:spcPts val="800"/>
              </a:spcAft>
            </a:pPr>
            <a:r>
              <a:rPr lang="en-IN" sz="3600" b="1" kern="100" dirty="0">
                <a:latin typeface="Times New Roman" panose="02020603050405020304" pitchFamily="18" charset="0"/>
                <a:ea typeface="Calibri" panose="020F0502020204030204" pitchFamily="34" charset="0"/>
                <a:cs typeface="Times New Roman" panose="02020603050405020304" pitchFamily="18" charset="0"/>
              </a:rPr>
              <a:t>Code Implementation</a:t>
            </a:r>
            <a:endParaRPr lang="en-US" sz="24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3200" b="1" kern="100" dirty="0">
                <a:latin typeface="Times New Roman" panose="02020603050405020304" pitchFamily="18" charset="0"/>
                <a:ea typeface="Calibri" panose="020F0502020204030204" pitchFamily="34" charset="0"/>
                <a:cs typeface="Times New Roman" panose="02020603050405020304" pitchFamily="18" charset="0"/>
              </a:rPr>
              <a:t> </a:t>
            </a:r>
            <a:r>
              <a:rPr lang="en-IN" sz="3200" b="1" kern="100" dirty="0" smtClean="0">
                <a:latin typeface="Times New Roman" panose="02020603050405020304" pitchFamily="18" charset="0"/>
                <a:ea typeface="Calibri" panose="020F0502020204030204" pitchFamily="34" charset="0"/>
                <a:cs typeface="Times New Roman" panose="02020603050405020304" pitchFamily="18" charset="0"/>
              </a:rPr>
              <a:t>          </a:t>
            </a:r>
            <a:r>
              <a:rPr lang="en-IN" sz="3200" b="1" kern="100" dirty="0">
                <a:latin typeface="Times New Roman" panose="02020603050405020304" pitchFamily="18" charset="0"/>
                <a:ea typeface="Calibri" panose="020F0502020204030204" pitchFamily="34" charset="0"/>
                <a:cs typeface="Times New Roman" panose="02020603050405020304" pitchFamily="18" charset="0"/>
              </a:rPr>
              <a:t>Importing Packages</a:t>
            </a:r>
            <a:endParaRPr lang="en-US" sz="24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Install and import the entire package required for the project. Here, we used Numpy, pandas used for the data frame, </a:t>
            </a:r>
            <a:r>
              <a:rPr lang="en-IN" sz="2800" b="1" kern="100" dirty="0" err="1">
                <a:latin typeface="Times New Roman" panose="02020603050405020304" pitchFamily="18" charset="0"/>
                <a:ea typeface="Calibri" panose="020F0502020204030204" pitchFamily="34" charset="0"/>
                <a:cs typeface="Times New Roman" panose="02020603050405020304" pitchFamily="18" charset="0"/>
              </a:rPr>
              <a:t>Matplotlib</a:t>
            </a: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 Seaborn used for data visualization and Sklearn used from machine learning.</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3" name="Picture 32" descr="C:\Users\nikitha\AppData\Local\Packages\Microsoft.Windows.Photos_8wekyb3d8bbwe\TempState\ShareServiceTempFolder\Screenshot 2024-02-29 065635.jpeg"/>
          <p:cNvPicPr/>
          <p:nvPr/>
        </p:nvPicPr>
        <p:blipFill>
          <a:blip r:embed="rId6">
            <a:extLst>
              <a:ext uri="{28A0092B-C50C-407E-A947-70E740481C1C}">
                <a14:useLocalDpi xmlns:a14="http://schemas.microsoft.com/office/drawing/2010/main" val="0"/>
              </a:ext>
            </a:extLst>
          </a:blip>
          <a:srcRect/>
          <a:stretch>
            <a:fillRect/>
          </a:stretch>
        </p:blipFill>
        <p:spPr bwMode="auto">
          <a:xfrm>
            <a:off x="1718317" y="5881163"/>
            <a:ext cx="14630400" cy="33853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6187" y="495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grpSp>
        <p:nvGrpSpPr>
          <p:cNvPr id="28" name="Group 28"/>
          <p:cNvGrpSpPr/>
          <p:nvPr/>
        </p:nvGrpSpPr>
        <p:grpSpPr>
          <a:xfrm>
            <a:off x="3866281" y="83590"/>
            <a:ext cx="10555438" cy="1966535"/>
            <a:chOff x="0" y="0"/>
            <a:chExt cx="2780033" cy="517935"/>
          </a:xfrm>
        </p:grpSpPr>
        <p:sp>
          <p:nvSpPr>
            <p:cNvPr id="29" name="Freeform 29"/>
            <p:cNvSpPr/>
            <p:nvPr/>
          </p:nvSpPr>
          <p:spPr>
            <a:xfrm>
              <a:off x="0" y="0"/>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sp>
        <p:sp>
          <p:nvSpPr>
            <p:cNvPr id="30"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206873" y="-55256"/>
            <a:ext cx="3813433" cy="470749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Rectangle 2"/>
          <p:cNvSpPr/>
          <p:nvPr/>
        </p:nvSpPr>
        <p:spPr>
          <a:xfrm>
            <a:off x="7437704" y="604419"/>
            <a:ext cx="3563796" cy="707886"/>
          </a:xfrm>
          <a:prstGeom prst="rect">
            <a:avLst/>
          </a:prstGeom>
        </p:spPr>
        <p:txBody>
          <a:bodyPr wrap="none">
            <a:spAutoFit/>
          </a:bodyPr>
          <a:lstStyle/>
          <a:p>
            <a:pPr algn="ctr"/>
            <a:r>
              <a:rPr lang="en-IN" sz="4000" b="1" dirty="0" smtClean="0">
                <a:latin typeface="Times New Roman" panose="02020603050405020304" pitchFamily="18" charset="0"/>
                <a:ea typeface="Calibri" panose="020F0502020204030204" pitchFamily="34" charset="0"/>
              </a:rPr>
              <a:t>Upload Dataset</a:t>
            </a:r>
            <a:endParaRPr lang="en-US" sz="4000" dirty="0"/>
          </a:p>
        </p:txBody>
      </p:sp>
      <p:sp>
        <p:nvSpPr>
          <p:cNvPr id="5" name="Rectangle 4"/>
          <p:cNvSpPr/>
          <p:nvPr/>
        </p:nvSpPr>
        <p:spPr>
          <a:xfrm>
            <a:off x="988316" y="3604208"/>
            <a:ext cx="15851884" cy="2031325"/>
          </a:xfrm>
          <a:prstGeom prst="rect">
            <a:avLst/>
          </a:prstGeom>
        </p:spPr>
        <p:txBody>
          <a:bodyPr wrap="square">
            <a:spAutoFit/>
          </a:bodyPr>
          <a:lstStyle/>
          <a:p>
            <a:pPr algn="just">
              <a:lnSpc>
                <a:spcPct val="150000"/>
              </a:lnSpc>
              <a:spcAft>
                <a:spcPts val="800"/>
              </a:spcAft>
            </a:pP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We used Autism Dataset for prediction system.</a:t>
            </a:r>
            <a:r>
              <a:rPr lang="en-IN" sz="2400" b="1" kern="100" dirty="0">
                <a:solidFill>
                  <a:srgbClr val="374151"/>
                </a:solidFill>
                <a:latin typeface="Times New Roman" panose="02020603050405020304" pitchFamily="18" charset="0"/>
                <a:ea typeface="Calibri" panose="020F0502020204030204" pitchFamily="34" charset="0"/>
                <a:cs typeface="Times New Roman" panose="02020603050405020304" pitchFamily="18" charset="0"/>
              </a:rPr>
              <a:t> </a:t>
            </a:r>
            <a:r>
              <a:rPr lang="en-IN" sz="2800" b="1" kern="100" dirty="0">
                <a:latin typeface="Times New Roman" panose="02020603050405020304" pitchFamily="18" charset="0"/>
                <a:ea typeface="Calibri" panose="020F0502020204030204" pitchFamily="34" charset="0"/>
                <a:cs typeface="Times New Roman" panose="02020603050405020304" pitchFamily="18" charset="0"/>
              </a:rPr>
              <a:t>Gather data related to autism, including information about the symptoms and user sentiments or reviews associated with them. There are various sources to consider, such as online review platforms, medical forums, or social media.</a:t>
            </a:r>
            <a:endPar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5" name="Picture 14" descr="C:\Users\nikitha\AppData\Local\Packages\Microsoft.Windows.Photos_8wekyb3d8bbwe\TempState\ShareServiceTempFolder\Screenshot 2024-02-29 070549.jpeg"/>
          <p:cNvPicPr/>
          <p:nvPr/>
        </p:nvPicPr>
        <p:blipFill>
          <a:blip r:embed="rId6">
            <a:extLst>
              <a:ext uri="{28A0092B-C50C-407E-A947-70E740481C1C}">
                <a14:useLocalDpi xmlns:a14="http://schemas.microsoft.com/office/drawing/2010/main" val="0"/>
              </a:ext>
            </a:extLst>
          </a:blip>
          <a:srcRect/>
          <a:stretch>
            <a:fillRect/>
          </a:stretch>
        </p:blipFill>
        <p:spPr bwMode="auto">
          <a:xfrm>
            <a:off x="1500939" y="5807973"/>
            <a:ext cx="15498496" cy="4543974"/>
          </a:xfrm>
          <a:prstGeom prst="rect">
            <a:avLst/>
          </a:prstGeom>
          <a:noFill/>
          <a:ln>
            <a:noFill/>
          </a:ln>
        </p:spPr>
      </p:pic>
    </p:spTree>
    <p:extLst>
      <p:ext uri="{BB962C8B-B14F-4D97-AF65-F5344CB8AC3E}">
        <p14:creationId xmlns:p14="http://schemas.microsoft.com/office/powerpoint/2010/main" val="39683569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6187" y="495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27" name="Freeform 27"/>
          <p:cNvSpPr/>
          <p:nvPr/>
        </p:nvSpPr>
        <p:spPr>
          <a:xfrm>
            <a:off x="4444228" y="2696146"/>
            <a:ext cx="9424454" cy="918884"/>
          </a:xfrm>
          <a:custGeom>
            <a:avLst/>
            <a:gdLst/>
            <a:ahLst/>
            <a:cxnLst/>
            <a:rect l="l" t="t" r="r" b="b"/>
            <a:pathLst>
              <a:path w="9424454" h="918884">
                <a:moveTo>
                  <a:pt x="0" y="0"/>
                </a:moveTo>
                <a:lnTo>
                  <a:pt x="9424454" y="0"/>
                </a:lnTo>
                <a:lnTo>
                  <a:pt x="9424454" y="918884"/>
                </a:lnTo>
                <a:lnTo>
                  <a:pt x="0" y="918884"/>
                </a:lnTo>
                <a:lnTo>
                  <a:pt x="0" y="0"/>
                </a:lnTo>
                <a:close/>
              </a:path>
            </a:pathLst>
          </a:custGeom>
          <a:blipFill>
            <a:blip r:embed="rId3"/>
            <a:stretch>
              <a:fillRect/>
            </a:stretch>
          </a:blipFill>
        </p:spPr>
      </p:sp>
      <p:grpSp>
        <p:nvGrpSpPr>
          <p:cNvPr id="28" name="Group 28"/>
          <p:cNvGrpSpPr/>
          <p:nvPr/>
        </p:nvGrpSpPr>
        <p:grpSpPr>
          <a:xfrm>
            <a:off x="3866281" y="83590"/>
            <a:ext cx="10555438" cy="1966535"/>
            <a:chOff x="0" y="0"/>
            <a:chExt cx="2780033" cy="517935"/>
          </a:xfrm>
        </p:grpSpPr>
        <p:sp>
          <p:nvSpPr>
            <p:cNvPr id="29" name="Freeform 29"/>
            <p:cNvSpPr/>
            <p:nvPr/>
          </p:nvSpPr>
          <p:spPr>
            <a:xfrm>
              <a:off x="0" y="0"/>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sp>
        <p:sp>
          <p:nvSpPr>
            <p:cNvPr id="30"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 name="Rectangle 2"/>
          <p:cNvSpPr/>
          <p:nvPr/>
        </p:nvSpPr>
        <p:spPr>
          <a:xfrm>
            <a:off x="6621972" y="405479"/>
            <a:ext cx="4442883" cy="707886"/>
          </a:xfrm>
          <a:prstGeom prst="rect">
            <a:avLst/>
          </a:prstGeom>
        </p:spPr>
        <p:txBody>
          <a:bodyPr wrap="none">
            <a:spAutoFit/>
          </a:bodyPr>
          <a:lstStyle/>
          <a:p>
            <a:r>
              <a:rPr lang="en-IN" sz="4000" b="1" smtClean="0">
                <a:latin typeface="Times New Roman" panose="02020603050405020304" pitchFamily="18" charset="0"/>
                <a:ea typeface="Calibri" panose="020F0502020204030204" pitchFamily="34" charset="0"/>
              </a:rPr>
              <a:t>Data-preprocessing</a:t>
            </a:r>
            <a:endParaRPr lang="en-US" sz="4000" dirty="0"/>
          </a:p>
        </p:txBody>
      </p:sp>
      <p:sp>
        <p:nvSpPr>
          <p:cNvPr id="4" name="Rectangle 3"/>
          <p:cNvSpPr/>
          <p:nvPr/>
        </p:nvSpPr>
        <p:spPr>
          <a:xfrm>
            <a:off x="1492178" y="3755736"/>
            <a:ext cx="15183418" cy="1141146"/>
          </a:xfrm>
          <a:prstGeom prst="rect">
            <a:avLst/>
          </a:prstGeom>
        </p:spPr>
        <p:txBody>
          <a:bodyPr wrap="square">
            <a:spAutoFit/>
          </a:bodyPr>
          <a:lstStyle/>
          <a:p>
            <a:pPr algn="just">
              <a:lnSpc>
                <a:spcPct val="150000"/>
              </a:lnSpc>
              <a:spcAft>
                <a:spcPts val="800"/>
              </a:spcAft>
            </a:pPr>
            <a:r>
              <a:rPr lang="en-IN" sz="2400" b="1" kern="100" dirty="0">
                <a:solidFill>
                  <a:srgbClr val="374151"/>
                </a:solidFill>
                <a:latin typeface="Times New Roman" panose="02020603050405020304" pitchFamily="18" charset="0"/>
                <a:ea typeface="Calibri" panose="020F0502020204030204" pitchFamily="34" charset="0"/>
                <a:cs typeface="Times New Roman" panose="02020603050405020304" pitchFamily="18" charset="0"/>
              </a:rPr>
              <a:t>Clean and pre-process the collected data. This may involve removing irrelevant information, handling missing data, standardizing text formats, and performing other necessary pre-processing tasks and also label encoding.</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Picture 12" descr="C:\Users\nikitha\AppData\Local\Packages\Microsoft.Windows.Photos_8wekyb3d8bbwe\TempState\ShareServiceTempFolder\Screenshot 2024-02-29 071621.jpeg"/>
          <p:cNvPicPr/>
          <p:nvPr/>
        </p:nvPicPr>
        <p:blipFill>
          <a:blip r:embed="rId6">
            <a:extLst>
              <a:ext uri="{28A0092B-C50C-407E-A947-70E740481C1C}">
                <a14:useLocalDpi xmlns:a14="http://schemas.microsoft.com/office/drawing/2010/main" val="0"/>
              </a:ext>
            </a:extLst>
          </a:blip>
          <a:srcRect/>
          <a:stretch>
            <a:fillRect/>
          </a:stretch>
        </p:blipFill>
        <p:spPr bwMode="auto">
          <a:xfrm>
            <a:off x="1371600" y="6495310"/>
            <a:ext cx="15303996" cy="3677390"/>
          </a:xfrm>
          <a:prstGeom prst="rect">
            <a:avLst/>
          </a:prstGeom>
          <a:noFill/>
          <a:ln>
            <a:noFill/>
          </a:ln>
        </p:spPr>
      </p:pic>
      <p:sp>
        <p:nvSpPr>
          <p:cNvPr id="5" name="Rectangle 4"/>
          <p:cNvSpPr/>
          <p:nvPr/>
        </p:nvSpPr>
        <p:spPr>
          <a:xfrm>
            <a:off x="1828800" y="5437438"/>
            <a:ext cx="3004862" cy="589072"/>
          </a:xfrm>
          <a:prstGeom prst="rect">
            <a:avLst/>
          </a:prstGeom>
        </p:spPr>
        <p:txBody>
          <a:bodyPr wrap="none">
            <a:spAutoFit/>
          </a:bodyPr>
          <a:lstStyle/>
          <a:p>
            <a:pPr marL="342900" marR="0" lvl="0" indent="-342900" algn="just">
              <a:lnSpc>
                <a:spcPct val="150000"/>
              </a:lnSpc>
              <a:spcBef>
                <a:spcPts val="0"/>
              </a:spcBef>
              <a:spcAft>
                <a:spcPts val="800"/>
              </a:spcAft>
              <a:buFont typeface="Symbol" panose="05050102010706020507" pitchFamily="18" charset="2"/>
              <a:buChar char=""/>
            </a:pPr>
            <a:r>
              <a:rPr lang="en-IN" sz="2400" b="1" kern="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Describing the data</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934977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27" name="Freeform 27"/>
          <p:cNvSpPr/>
          <p:nvPr/>
        </p:nvSpPr>
        <p:spPr>
          <a:xfrm>
            <a:off x="4444228" y="2696146"/>
            <a:ext cx="9424454" cy="918884"/>
          </a:xfrm>
          <a:custGeom>
            <a:avLst/>
            <a:gdLst/>
            <a:ahLst/>
            <a:cxnLst/>
            <a:rect l="l" t="t" r="r" b="b"/>
            <a:pathLst>
              <a:path w="9424454" h="918884">
                <a:moveTo>
                  <a:pt x="0" y="0"/>
                </a:moveTo>
                <a:lnTo>
                  <a:pt x="9424454" y="0"/>
                </a:lnTo>
                <a:lnTo>
                  <a:pt x="9424454" y="918884"/>
                </a:lnTo>
                <a:lnTo>
                  <a:pt x="0" y="918884"/>
                </a:lnTo>
                <a:lnTo>
                  <a:pt x="0" y="0"/>
                </a:lnTo>
                <a:close/>
              </a:path>
            </a:pathLst>
          </a:custGeom>
          <a:blipFill>
            <a:blip r:embed="rId2"/>
            <a:stretch>
              <a:fillRect/>
            </a:stretch>
          </a:blipFill>
        </p:spPr>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pic>
        <p:nvPicPr>
          <p:cNvPr id="11" name="Picture 10" descr="C:\Users\nikitha\AppData\Local\Packages\Microsoft.Windows.Photos_8wekyb3d8bbwe\TempState\ShareServiceTempFolder\Screenshot 2024-02-29 071641.jpe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816271"/>
            <a:ext cx="15773400" cy="4047554"/>
          </a:xfrm>
          <a:prstGeom prst="rect">
            <a:avLst/>
          </a:prstGeom>
          <a:noFill/>
          <a:ln>
            <a:noFill/>
          </a:ln>
        </p:spPr>
      </p:pic>
      <p:sp>
        <p:nvSpPr>
          <p:cNvPr id="3" name="Rectangle 2"/>
          <p:cNvSpPr/>
          <p:nvPr/>
        </p:nvSpPr>
        <p:spPr>
          <a:xfrm>
            <a:off x="5482168" y="110453"/>
            <a:ext cx="3911071" cy="460895"/>
          </a:xfrm>
          <a:prstGeom prst="rect">
            <a:avLst/>
          </a:prstGeom>
        </p:spPr>
        <p:txBody>
          <a:bodyPr wrap="none">
            <a:spAutoFit/>
          </a:bodyPr>
          <a:lstStyle/>
          <a:p>
            <a:pPr marL="342900" marR="0" lvl="0" indent="-342900">
              <a:lnSpc>
                <a:spcPct val="107000"/>
              </a:lnSpc>
              <a:spcBef>
                <a:spcPts val="0"/>
              </a:spcBef>
              <a:spcAft>
                <a:spcPts val="800"/>
              </a:spcAft>
              <a:buFont typeface="Symbol" panose="05050102010706020507" pitchFamily="18" charset="2"/>
              <a:buChar char=""/>
            </a:pPr>
            <a:r>
              <a:rPr lang="en-IN" sz="20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Dropping </a:t>
            </a:r>
            <a:r>
              <a:rPr lang="en-IN" sz="24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irrelevant</a:t>
            </a:r>
            <a:r>
              <a:rPr lang="en-IN" sz="2000" b="1"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columns</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Picture 12" descr="C:\Users\nikitha\AppData\Local\Packages\Microsoft.Windows.Photos_8wekyb3d8bbwe\TempState\ShareServiceTempFolder\Screenshot 2024-02-29 071713.jpe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6320" y="6101401"/>
            <a:ext cx="15511277" cy="4076700"/>
          </a:xfrm>
          <a:prstGeom prst="rect">
            <a:avLst/>
          </a:prstGeom>
          <a:noFill/>
          <a:ln>
            <a:noFill/>
          </a:ln>
        </p:spPr>
      </p:pic>
      <p:sp>
        <p:nvSpPr>
          <p:cNvPr id="4" name="Rectangle 3"/>
          <p:cNvSpPr/>
          <p:nvPr/>
        </p:nvSpPr>
        <p:spPr>
          <a:xfrm>
            <a:off x="893061" y="5522433"/>
            <a:ext cx="3108864" cy="470000"/>
          </a:xfrm>
          <a:prstGeom prst="rect">
            <a:avLst/>
          </a:prstGeom>
        </p:spPr>
        <p:txBody>
          <a:bodyPr wrap="none">
            <a:spAutoFit/>
          </a:bodyPr>
          <a:lstStyle/>
          <a:p>
            <a:pPr marL="342900" marR="0" lvl="0" indent="-342900">
              <a:lnSpc>
                <a:spcPct val="107000"/>
              </a:lnSpc>
              <a:spcBef>
                <a:spcPts val="0"/>
              </a:spcBef>
              <a:spcAft>
                <a:spcPts val="800"/>
              </a:spcAft>
              <a:buFont typeface="Symbol" panose="05050102010706020507" pitchFamily="18" charset="2"/>
              <a:buChar char=""/>
            </a:pPr>
            <a:r>
              <a:rPr lang="en-IN" sz="2400" b="1" kern="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Checking null values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951201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27" name="Freeform 27"/>
          <p:cNvSpPr/>
          <p:nvPr/>
        </p:nvSpPr>
        <p:spPr>
          <a:xfrm>
            <a:off x="4444228" y="2696146"/>
            <a:ext cx="9424454" cy="918884"/>
          </a:xfrm>
          <a:custGeom>
            <a:avLst/>
            <a:gdLst/>
            <a:ahLst/>
            <a:cxnLst/>
            <a:rect l="l" t="t" r="r" b="b"/>
            <a:pathLst>
              <a:path w="9424454" h="918884">
                <a:moveTo>
                  <a:pt x="0" y="0"/>
                </a:moveTo>
                <a:lnTo>
                  <a:pt x="9424454" y="0"/>
                </a:lnTo>
                <a:lnTo>
                  <a:pt x="9424454" y="918884"/>
                </a:lnTo>
                <a:lnTo>
                  <a:pt x="0" y="918884"/>
                </a:lnTo>
                <a:lnTo>
                  <a:pt x="0" y="0"/>
                </a:lnTo>
                <a:close/>
              </a:path>
            </a:pathLst>
          </a:custGeom>
          <a:blipFill>
            <a:blip r:embed="rId2"/>
            <a:stretch>
              <a:fillRect/>
            </a:stretch>
          </a:blipFill>
        </p:spPr>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11" name="Picture 10" descr="C:\Users\nikitha\AppData\Local\Packages\Microsoft.Windows.Photos_8wekyb3d8bbwe\TempState\ShareServiceTempFolder\Screenshot 2024-02-29 073020.jpeg"/>
          <p:cNvPicPr/>
          <p:nvPr/>
        </p:nvPicPr>
        <p:blipFill>
          <a:blip r:embed="rId6">
            <a:extLst>
              <a:ext uri="{28A0092B-C50C-407E-A947-70E740481C1C}">
                <a14:useLocalDpi xmlns:a14="http://schemas.microsoft.com/office/drawing/2010/main" val="0"/>
              </a:ext>
            </a:extLst>
          </a:blip>
          <a:srcRect/>
          <a:stretch>
            <a:fillRect/>
          </a:stretch>
        </p:blipFill>
        <p:spPr bwMode="auto">
          <a:xfrm>
            <a:off x="1862323" y="1333500"/>
            <a:ext cx="14401800" cy="6576970"/>
          </a:xfrm>
          <a:prstGeom prst="rect">
            <a:avLst/>
          </a:prstGeom>
          <a:noFill/>
          <a:ln>
            <a:noFill/>
          </a:ln>
        </p:spPr>
      </p:pic>
      <p:sp>
        <p:nvSpPr>
          <p:cNvPr id="3" name="Rectangle 2"/>
          <p:cNvSpPr/>
          <p:nvPr/>
        </p:nvSpPr>
        <p:spPr>
          <a:xfrm>
            <a:off x="3398845" y="424280"/>
            <a:ext cx="2090765" cy="470000"/>
          </a:xfrm>
          <a:prstGeom prst="rect">
            <a:avLst/>
          </a:prstGeom>
        </p:spPr>
        <p:txBody>
          <a:bodyPr wrap="none">
            <a:spAutoFit/>
          </a:bodyPr>
          <a:lstStyle/>
          <a:p>
            <a:pPr>
              <a:lnSpc>
                <a:spcPct val="107000"/>
              </a:lnSpc>
              <a:spcBef>
                <a:spcPts val="600"/>
              </a:spcBef>
              <a:spcAft>
                <a:spcPts val="600"/>
              </a:spcAft>
            </a:pPr>
            <a:r>
              <a:rPr lang="en-IN" sz="2400" b="1" kern="100" dirty="0" smtClean="0">
                <a:solidFill>
                  <a:srgbClr val="000000"/>
                </a:solidFill>
                <a:latin typeface="Calibri" panose="020F0502020204030204" pitchFamily="34" charset="0"/>
                <a:ea typeface="Calibri" panose="020F0502020204030204" pitchFamily="34" charset="0"/>
                <a:cs typeface="Times New Roman" panose="02020603050405020304" pitchFamily="18" charset="0"/>
              </a:rPr>
              <a:t>Label Encoding</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337415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rot="3609890">
            <a:off x="8226948" y="8161451"/>
            <a:ext cx="7216534" cy="342785"/>
          </a:xfrm>
          <a:custGeom>
            <a:avLst/>
            <a:gdLst/>
            <a:ahLst/>
            <a:cxnLst/>
            <a:rect l="l" t="t" r="r" b="b"/>
            <a:pathLst>
              <a:path w="7216534" h="342785">
                <a:moveTo>
                  <a:pt x="0" y="0"/>
                </a:moveTo>
                <a:lnTo>
                  <a:pt x="7216534" y="0"/>
                </a:lnTo>
                <a:lnTo>
                  <a:pt x="7216534" y="342786"/>
                </a:lnTo>
                <a:lnTo>
                  <a:pt x="0" y="342786"/>
                </a:lnTo>
                <a:lnTo>
                  <a:pt x="0" y="0"/>
                </a:lnTo>
                <a:close/>
              </a:path>
            </a:pathLst>
          </a:custGeom>
          <a:blipFill>
            <a:blip r:embed="rId3">
              <a:alphaModFix amt="55000"/>
            </a:blip>
            <a:stretch>
              <a:fillRect/>
            </a:stretch>
          </a:blipFill>
        </p:spPr>
      </p:sp>
      <p:sp>
        <p:nvSpPr>
          <p:cNvPr id="9" name="Freeform 9"/>
          <p:cNvSpPr/>
          <p:nvPr/>
        </p:nvSpPr>
        <p:spPr>
          <a:xfrm rot="-4357799">
            <a:off x="9498029" y="2033600"/>
            <a:ext cx="7216534" cy="342785"/>
          </a:xfrm>
          <a:custGeom>
            <a:avLst/>
            <a:gdLst/>
            <a:ahLst/>
            <a:cxnLst/>
            <a:rect l="l" t="t" r="r" b="b"/>
            <a:pathLst>
              <a:path w="7216534" h="342785">
                <a:moveTo>
                  <a:pt x="0" y="0"/>
                </a:moveTo>
                <a:lnTo>
                  <a:pt x="7216534" y="0"/>
                </a:lnTo>
                <a:lnTo>
                  <a:pt x="7216534" y="342785"/>
                </a:lnTo>
                <a:lnTo>
                  <a:pt x="0" y="342785"/>
                </a:lnTo>
                <a:lnTo>
                  <a:pt x="0" y="0"/>
                </a:lnTo>
                <a:close/>
              </a:path>
            </a:pathLst>
          </a:custGeom>
          <a:blipFill>
            <a:blip r:embed="rId3">
              <a:alphaModFix amt="55000"/>
            </a:blip>
            <a:stretch>
              <a:fillRect/>
            </a:stretch>
          </a:blipFill>
        </p:spPr>
      </p:sp>
      <p:sp>
        <p:nvSpPr>
          <p:cNvPr id="5" name="Rectangle 4"/>
          <p:cNvSpPr/>
          <p:nvPr/>
        </p:nvSpPr>
        <p:spPr>
          <a:xfrm>
            <a:off x="3810000" y="609494"/>
            <a:ext cx="10928474" cy="584775"/>
          </a:xfrm>
          <a:prstGeom prst="rect">
            <a:avLst/>
          </a:prstGeom>
        </p:spPr>
        <p:txBody>
          <a:bodyPr wrap="square">
            <a:spAutoFit/>
          </a:bodyPr>
          <a:lstStyle/>
          <a:p>
            <a:pPr algn="ctr"/>
            <a:r>
              <a:rPr lang="en-IN" sz="3200" b="1" dirty="0" smtClean="0"/>
              <a:t>Analysis </a:t>
            </a:r>
            <a:r>
              <a:rPr lang="en-IN" sz="3200" b="1" dirty="0"/>
              <a:t>on Dataset</a:t>
            </a:r>
            <a:endParaRPr lang="en-US" sz="3200" dirty="0"/>
          </a:p>
        </p:txBody>
      </p:sp>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1137001" y="1570048"/>
            <a:ext cx="8754401" cy="6553201"/>
          </a:xfrm>
          <a:prstGeom prst="rect">
            <a:avLst/>
          </a:prstGeom>
          <a:noFill/>
          <a:ln>
            <a:noFill/>
          </a:ln>
        </p:spPr>
      </p:pic>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9828995" y="4120695"/>
            <a:ext cx="8077200" cy="5715000"/>
          </a:xfrm>
          <a:prstGeom prst="rect">
            <a:avLst/>
          </a:prstGeom>
          <a:noFill/>
          <a:ln>
            <a:noFill/>
          </a:ln>
        </p:spPr>
      </p:pic>
    </p:spTree>
    <p:extLst>
      <p:ext uri="{BB962C8B-B14F-4D97-AF65-F5344CB8AC3E}">
        <p14:creationId xmlns:p14="http://schemas.microsoft.com/office/powerpoint/2010/main" val="2154968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5" name="Rectangle 4"/>
          <p:cNvSpPr/>
          <p:nvPr/>
        </p:nvSpPr>
        <p:spPr>
          <a:xfrm>
            <a:off x="152400" y="715383"/>
            <a:ext cx="16301994" cy="2726708"/>
          </a:xfrm>
          <a:prstGeom prst="rect">
            <a:avLst/>
          </a:prstGeom>
        </p:spPr>
        <p:txBody>
          <a:bodyPr wrap="square">
            <a:spAutoFit/>
          </a:bodyPr>
          <a:lstStyle/>
          <a:p>
            <a:pPr>
              <a:lnSpc>
                <a:spcPct val="107000"/>
              </a:lnSpc>
              <a:spcAft>
                <a:spcPts val="800"/>
              </a:spcAft>
            </a:pPr>
            <a:r>
              <a:rPr lang="en-IN" sz="3600" b="1" kern="100" dirty="0">
                <a:solidFill>
                  <a:srgbClr val="212121"/>
                </a:solidFill>
                <a:latin typeface="Times New Roman" panose="02020603050405020304" pitchFamily="18" charset="0"/>
                <a:ea typeface="Calibri" panose="020F0502020204030204" pitchFamily="34" charset="0"/>
                <a:cs typeface="Times New Roman" panose="02020603050405020304" pitchFamily="18" charset="0"/>
              </a:rPr>
              <a:t>Building Machine Learning</a:t>
            </a:r>
            <a:endParaRPr lang="en-US"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800" kern="100" dirty="0">
                <a:latin typeface="Times New Roman" panose="02020603050405020304" pitchFamily="18" charset="0"/>
                <a:ea typeface="Calibri" panose="020F0502020204030204" pitchFamily="34" charset="0"/>
                <a:cs typeface="Times New Roman" panose="02020603050405020304" pitchFamily="18" charset="0"/>
              </a:rPr>
              <a:t>Build a recommendation model that takes the extracted features as input and generates drug recommendations based on the sentiments. Here we used Machine Learning algorithm like Logistic Regression, Decision Tree Classifier, Linear SVM, </a:t>
            </a:r>
            <a:r>
              <a:rPr lang="en-IN" sz="2800" kern="100" dirty="0" err="1">
                <a:latin typeface="Times New Roman" panose="02020603050405020304" pitchFamily="18" charset="0"/>
                <a:ea typeface="Calibri" panose="020F0502020204030204" pitchFamily="34" charset="0"/>
                <a:cs typeface="Times New Roman" panose="02020603050405020304" pitchFamily="18" charset="0"/>
              </a:rPr>
              <a:t>GaussianNB</a:t>
            </a:r>
            <a:r>
              <a:rPr lang="en-IN" sz="2800" kern="100" dirty="0">
                <a:latin typeface="Times New Roman" panose="02020603050405020304" pitchFamily="18" charset="0"/>
                <a:ea typeface="Calibri" panose="020F0502020204030204" pitchFamily="34" charset="0"/>
                <a:cs typeface="Times New Roman" panose="02020603050405020304" pitchFamily="18" charset="0"/>
              </a:rPr>
              <a:t> and Random Forest Classifier</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descr="C:\Users\nikitha\AppData\Local\Packages\Microsoft.Windows.Photos_8wekyb3d8bbwe\TempState\ShareServiceTempFolder\Screenshot 2024-02-29 073438.jpeg"/>
          <p:cNvPicPr/>
          <p:nvPr/>
        </p:nvPicPr>
        <p:blipFill>
          <a:blip r:embed="rId6">
            <a:extLst>
              <a:ext uri="{28A0092B-C50C-407E-A947-70E740481C1C}">
                <a14:useLocalDpi xmlns:a14="http://schemas.microsoft.com/office/drawing/2010/main" val="0"/>
              </a:ext>
            </a:extLst>
          </a:blip>
          <a:srcRect/>
          <a:stretch>
            <a:fillRect/>
          </a:stretch>
        </p:blipFill>
        <p:spPr bwMode="auto">
          <a:xfrm>
            <a:off x="2133600" y="5480456"/>
            <a:ext cx="12801600" cy="3886200"/>
          </a:xfrm>
          <a:prstGeom prst="rect">
            <a:avLst/>
          </a:prstGeom>
          <a:noFill/>
          <a:ln>
            <a:noFill/>
          </a:ln>
        </p:spPr>
      </p:pic>
      <p:sp>
        <p:nvSpPr>
          <p:cNvPr id="6" name="Rectangle 5"/>
          <p:cNvSpPr/>
          <p:nvPr/>
        </p:nvSpPr>
        <p:spPr>
          <a:xfrm>
            <a:off x="4289861" y="4583337"/>
            <a:ext cx="5631670" cy="461665"/>
          </a:xfrm>
          <a:prstGeom prst="rect">
            <a:avLst/>
          </a:prstGeom>
        </p:spPr>
        <p:txBody>
          <a:bodyPr wrap="none">
            <a:spAutoFit/>
          </a:bodyPr>
          <a:lstStyle/>
          <a:p>
            <a:r>
              <a:rPr lang="en-IN" sz="2400" b="1" kern="1800" dirty="0">
                <a:solidFill>
                  <a:srgbClr val="212121"/>
                </a:solidFill>
                <a:latin typeface="Times New Roman" panose="02020603050405020304" pitchFamily="18" charset="0"/>
                <a:ea typeface="Times New Roman" panose="02020603050405020304" pitchFamily="18" charset="0"/>
              </a:rPr>
              <a:t>Splitting Dataset into training and testing</a:t>
            </a:r>
            <a:endParaRPr lang="en-US" sz="2400" dirty="0"/>
          </a:p>
        </p:txBody>
      </p:sp>
    </p:spTree>
    <p:extLst>
      <p:ext uri="{BB962C8B-B14F-4D97-AF65-F5344CB8AC3E}">
        <p14:creationId xmlns:p14="http://schemas.microsoft.com/office/powerpoint/2010/main" val="20639713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2">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2">
              <a:extLst>
                <a:ext uri="{96DAC541-7B7A-43D3-8B79-37D633B846F1}">
                  <asvg:svgBlip xmlns:asvg="http://schemas.microsoft.com/office/drawing/2016/SVG/main" xmlns="" r:embed="rId5"/>
                </a:ext>
              </a:extLst>
            </a:blip>
            <a:stretch>
              <a:fillRect/>
            </a:stretch>
          </a:blipFill>
        </p:spPr>
      </p:sp>
      <p:pic>
        <p:nvPicPr>
          <p:cNvPr id="11" name="Picture 10" descr="C:\Users\nikitha\AppData\Local\Packages\Microsoft.Windows.Photos_8wekyb3d8bbwe\TempState\ShareServiceTempFolder\Screenshot 2024-02-29 074058.jpeg"/>
          <p:cNvPicPr/>
          <p:nvPr/>
        </p:nvPicPr>
        <p:blipFill>
          <a:blip r:embed="rId6">
            <a:extLst>
              <a:ext uri="{28A0092B-C50C-407E-A947-70E740481C1C}">
                <a14:useLocalDpi xmlns:a14="http://schemas.microsoft.com/office/drawing/2010/main" val="0"/>
              </a:ext>
            </a:extLst>
          </a:blip>
          <a:srcRect/>
          <a:stretch>
            <a:fillRect/>
          </a:stretch>
        </p:blipFill>
        <p:spPr bwMode="auto">
          <a:xfrm>
            <a:off x="1347257" y="2828171"/>
            <a:ext cx="12292543" cy="2848729"/>
          </a:xfrm>
          <a:prstGeom prst="rect">
            <a:avLst/>
          </a:prstGeom>
          <a:noFill/>
          <a:ln>
            <a:noFill/>
          </a:ln>
        </p:spPr>
      </p:pic>
      <p:pic>
        <p:nvPicPr>
          <p:cNvPr id="12" name="Picture 11" descr="C:\Users\nikitha\AppData\Local\Packages\Microsoft.Windows.Photos_8wekyb3d8bbwe\TempState\ShareServiceTempFolder\Screenshot 2024-02-29 074136.jpeg"/>
          <p:cNvPicPr/>
          <p:nvPr/>
        </p:nvPicPr>
        <p:blipFill>
          <a:blip r:embed="rId7">
            <a:extLst>
              <a:ext uri="{28A0092B-C50C-407E-A947-70E740481C1C}">
                <a14:useLocalDpi xmlns:a14="http://schemas.microsoft.com/office/drawing/2010/main" val="0"/>
              </a:ext>
            </a:extLst>
          </a:blip>
          <a:srcRect/>
          <a:stretch>
            <a:fillRect/>
          </a:stretch>
        </p:blipFill>
        <p:spPr bwMode="auto">
          <a:xfrm>
            <a:off x="1798220" y="6210300"/>
            <a:ext cx="12070180" cy="3124200"/>
          </a:xfrm>
          <a:prstGeom prst="rect">
            <a:avLst/>
          </a:prstGeom>
          <a:noFill/>
          <a:ln>
            <a:noFill/>
          </a:ln>
        </p:spPr>
      </p:pic>
      <p:sp>
        <p:nvSpPr>
          <p:cNvPr id="3" name="Rectangle 2"/>
          <p:cNvSpPr/>
          <p:nvPr/>
        </p:nvSpPr>
        <p:spPr>
          <a:xfrm>
            <a:off x="3059456" y="1333500"/>
            <a:ext cx="3241272" cy="646331"/>
          </a:xfrm>
          <a:prstGeom prst="rect">
            <a:avLst/>
          </a:prstGeom>
        </p:spPr>
        <p:txBody>
          <a:bodyPr wrap="none">
            <a:spAutoFit/>
          </a:bodyPr>
          <a:lstStyle/>
          <a:p>
            <a:r>
              <a:rPr lang="en-IN" sz="3600" b="1" kern="1800" dirty="0">
                <a:solidFill>
                  <a:srgbClr val="212121"/>
                </a:solidFill>
                <a:latin typeface="Times New Roman" panose="02020603050405020304" pitchFamily="18" charset="0"/>
                <a:ea typeface="Times New Roman" panose="02020603050405020304" pitchFamily="18" charset="0"/>
              </a:rPr>
              <a:t>Random Forest</a:t>
            </a:r>
            <a:endParaRPr lang="en-US" sz="3600" dirty="0"/>
          </a:p>
        </p:txBody>
      </p:sp>
    </p:spTree>
    <p:extLst>
      <p:ext uri="{BB962C8B-B14F-4D97-AF65-F5344CB8AC3E}">
        <p14:creationId xmlns:p14="http://schemas.microsoft.com/office/powerpoint/2010/main" val="22615625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2">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2">
              <a:extLst>
                <a:ext uri="{96DAC541-7B7A-43D3-8B79-37D633B846F1}">
                  <asvg:svgBlip xmlns:asvg="http://schemas.microsoft.com/office/drawing/2016/SVG/main" xmlns="" r:embed="rId5"/>
                </a:ext>
              </a:extLst>
            </a:blip>
            <a:stretch>
              <a:fillRect/>
            </a:stretch>
          </a:blipFill>
        </p:spPr>
      </p:sp>
      <p:pic>
        <p:nvPicPr>
          <p:cNvPr id="11" name="Picture 10" descr="C:\Users\nikitha\AppData\Local\Packages\Microsoft.Windows.Photos_8wekyb3d8bbwe\TempState\ShareServiceTempFolder\Screenshot 2024-02-29 114136.jpeg"/>
          <p:cNvPicPr/>
          <p:nvPr/>
        </p:nvPicPr>
        <p:blipFill>
          <a:blip r:embed="rId6">
            <a:extLst>
              <a:ext uri="{28A0092B-C50C-407E-A947-70E740481C1C}">
                <a14:useLocalDpi xmlns:a14="http://schemas.microsoft.com/office/drawing/2010/main" val="0"/>
              </a:ext>
            </a:extLst>
          </a:blip>
          <a:srcRect/>
          <a:stretch>
            <a:fillRect/>
          </a:stretch>
        </p:blipFill>
        <p:spPr bwMode="auto">
          <a:xfrm>
            <a:off x="1676400" y="1792246"/>
            <a:ext cx="15011400" cy="3808454"/>
          </a:xfrm>
          <a:prstGeom prst="rect">
            <a:avLst/>
          </a:prstGeom>
          <a:noFill/>
          <a:ln>
            <a:noFill/>
          </a:ln>
        </p:spPr>
      </p:pic>
      <p:pic>
        <p:nvPicPr>
          <p:cNvPr id="12" name="Picture 11" descr="C:\Users\nikitha\AppData\Local\Packages\Microsoft.Windows.Photos_8wekyb3d8bbwe\TempState\ShareServiceTempFolder\Screenshot 2024-02-29 114152.jpeg"/>
          <p:cNvPicPr/>
          <p:nvPr/>
        </p:nvPicPr>
        <p:blipFill>
          <a:blip r:embed="rId7">
            <a:extLst>
              <a:ext uri="{28A0092B-C50C-407E-A947-70E740481C1C}">
                <a14:useLocalDpi xmlns:a14="http://schemas.microsoft.com/office/drawing/2010/main" val="0"/>
              </a:ext>
            </a:extLst>
          </a:blip>
          <a:srcRect/>
          <a:stretch>
            <a:fillRect/>
          </a:stretch>
        </p:blipFill>
        <p:spPr bwMode="auto">
          <a:xfrm>
            <a:off x="2057400" y="5976752"/>
            <a:ext cx="15316200" cy="4043548"/>
          </a:xfrm>
          <a:prstGeom prst="rect">
            <a:avLst/>
          </a:prstGeom>
          <a:noFill/>
          <a:ln>
            <a:noFill/>
          </a:ln>
        </p:spPr>
      </p:pic>
    </p:spTree>
    <p:extLst>
      <p:ext uri="{BB962C8B-B14F-4D97-AF65-F5344CB8AC3E}">
        <p14:creationId xmlns:p14="http://schemas.microsoft.com/office/powerpoint/2010/main" val="26574594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2457072" y="4181364"/>
            <a:ext cx="5724318" cy="5208185"/>
            <a:chOff x="0" y="0"/>
            <a:chExt cx="996273" cy="1291426"/>
          </a:xfrm>
        </p:grpSpPr>
        <p:sp>
          <p:nvSpPr>
            <p:cNvPr id="4" name="Freeform 4"/>
            <p:cNvSpPr/>
            <p:nvPr/>
          </p:nvSpPr>
          <p:spPr>
            <a:xfrm>
              <a:off x="0" y="0"/>
              <a:ext cx="996273" cy="1291426"/>
            </a:xfrm>
            <a:custGeom>
              <a:avLst/>
              <a:gdLst/>
              <a:ahLst/>
              <a:cxnLst/>
              <a:rect l="l" t="t" r="r" b="b"/>
              <a:pathLst>
                <a:path w="996273" h="1291426">
                  <a:moveTo>
                    <a:pt x="110519" y="0"/>
                  </a:moveTo>
                  <a:lnTo>
                    <a:pt x="885754" y="0"/>
                  </a:lnTo>
                  <a:cubicBezTo>
                    <a:pt x="915066" y="0"/>
                    <a:pt x="943177" y="11644"/>
                    <a:pt x="963903" y="32370"/>
                  </a:cubicBezTo>
                  <a:cubicBezTo>
                    <a:pt x="984629" y="53097"/>
                    <a:pt x="996273" y="81208"/>
                    <a:pt x="996273" y="110519"/>
                  </a:cubicBezTo>
                  <a:lnTo>
                    <a:pt x="996273" y="1180907"/>
                  </a:lnTo>
                  <a:cubicBezTo>
                    <a:pt x="996273" y="1241945"/>
                    <a:pt x="946792" y="1291426"/>
                    <a:pt x="885754" y="1291426"/>
                  </a:cubicBezTo>
                  <a:lnTo>
                    <a:pt x="110519" y="1291426"/>
                  </a:lnTo>
                  <a:cubicBezTo>
                    <a:pt x="81208" y="1291426"/>
                    <a:pt x="53097" y="1279782"/>
                    <a:pt x="32370" y="1259056"/>
                  </a:cubicBezTo>
                  <a:cubicBezTo>
                    <a:pt x="11644" y="1238330"/>
                    <a:pt x="0" y="1210219"/>
                    <a:pt x="0" y="1180907"/>
                  </a:cubicBezTo>
                  <a:lnTo>
                    <a:pt x="0" y="110519"/>
                  </a:lnTo>
                  <a:cubicBezTo>
                    <a:pt x="0" y="81208"/>
                    <a:pt x="11644" y="53097"/>
                    <a:pt x="32370" y="32370"/>
                  </a:cubicBezTo>
                  <a:cubicBezTo>
                    <a:pt x="53097" y="11644"/>
                    <a:pt x="81208" y="0"/>
                    <a:pt x="110519" y="0"/>
                  </a:cubicBezTo>
                  <a:close/>
                </a:path>
              </a:pathLst>
            </a:custGeom>
            <a:solidFill>
              <a:srgbClr val="FFBC00"/>
            </a:solidFill>
          </p:spPr>
        </p:sp>
        <p:sp>
          <p:nvSpPr>
            <p:cNvPr id="5" name="TextBox 5"/>
            <p:cNvSpPr txBox="1"/>
            <p:nvPr/>
          </p:nvSpPr>
          <p:spPr>
            <a:xfrm>
              <a:off x="0" y="-57150"/>
              <a:ext cx="996273" cy="1348576"/>
            </a:xfrm>
            <a:prstGeom prst="rect">
              <a:avLst/>
            </a:prstGeom>
          </p:spPr>
          <p:txBody>
            <a:bodyPr lIns="50800" tIns="50800" rIns="50800" bIns="50800" rtlCol="0" anchor="ctr"/>
            <a:lstStyle/>
            <a:p>
              <a:pPr algn="ctr">
                <a:lnSpc>
                  <a:spcPts val="2659"/>
                </a:lnSpc>
              </a:pPr>
              <a:endParaRPr dirty="0"/>
            </a:p>
          </p:txBody>
        </p:sp>
      </p:grpSp>
      <p:grpSp>
        <p:nvGrpSpPr>
          <p:cNvPr id="15" name="Group 15"/>
          <p:cNvGrpSpPr/>
          <p:nvPr/>
        </p:nvGrpSpPr>
        <p:grpSpPr>
          <a:xfrm>
            <a:off x="4711632" y="3819162"/>
            <a:ext cx="1190707" cy="11907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D60"/>
            </a:solidFill>
          </p:spPr>
        </p:sp>
        <p:sp>
          <p:nvSpPr>
            <p:cNvPr id="17" name="TextBox 1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dirty="0"/>
            </a:p>
          </p:txBody>
        </p:sp>
      </p:gr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27" name="Freeform 27"/>
          <p:cNvSpPr/>
          <p:nvPr/>
        </p:nvSpPr>
        <p:spPr>
          <a:xfrm>
            <a:off x="4444228" y="2696146"/>
            <a:ext cx="9424454" cy="918884"/>
          </a:xfrm>
          <a:custGeom>
            <a:avLst/>
            <a:gdLst/>
            <a:ahLst/>
            <a:cxnLst/>
            <a:rect l="l" t="t" r="r" b="b"/>
            <a:pathLst>
              <a:path w="9424454" h="918884">
                <a:moveTo>
                  <a:pt x="0" y="0"/>
                </a:moveTo>
                <a:lnTo>
                  <a:pt x="9424454" y="0"/>
                </a:lnTo>
                <a:lnTo>
                  <a:pt x="9424454" y="918884"/>
                </a:lnTo>
                <a:lnTo>
                  <a:pt x="0" y="918884"/>
                </a:lnTo>
                <a:lnTo>
                  <a:pt x="0" y="0"/>
                </a:lnTo>
                <a:close/>
              </a:path>
            </a:pathLst>
          </a:custGeom>
          <a:blipFill>
            <a:blip r:embed="rId3"/>
            <a:stretch>
              <a:fillRect/>
            </a:stretch>
          </a:blipFill>
        </p:spPr>
      </p:sp>
      <p:grpSp>
        <p:nvGrpSpPr>
          <p:cNvPr id="28" name="Group 28"/>
          <p:cNvGrpSpPr/>
          <p:nvPr/>
        </p:nvGrpSpPr>
        <p:grpSpPr>
          <a:xfrm>
            <a:off x="3866281" y="981646"/>
            <a:ext cx="10555438" cy="1966535"/>
            <a:chOff x="0" y="0"/>
            <a:chExt cx="2780033" cy="517935"/>
          </a:xfrm>
        </p:grpSpPr>
        <p:sp>
          <p:nvSpPr>
            <p:cNvPr id="29" name="Freeform 29"/>
            <p:cNvSpPr/>
            <p:nvPr/>
          </p:nvSpPr>
          <p:spPr>
            <a:xfrm>
              <a:off x="0" y="0"/>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sp>
        <p:sp>
          <p:nvSpPr>
            <p:cNvPr id="30"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
        <p:nvSpPr>
          <p:cNvPr id="31" name="TextBox 31"/>
          <p:cNvSpPr txBox="1"/>
          <p:nvPr/>
        </p:nvSpPr>
        <p:spPr>
          <a:xfrm>
            <a:off x="5442888" y="1315021"/>
            <a:ext cx="7402224" cy="1384995"/>
          </a:xfrm>
          <a:prstGeom prst="rect">
            <a:avLst/>
          </a:prstGeom>
        </p:spPr>
        <p:txBody>
          <a:bodyPr lIns="0" tIns="0" rIns="0" bIns="0" rtlCol="0" anchor="t">
            <a:spAutoFit/>
          </a:bodyPr>
          <a:lstStyle/>
          <a:p>
            <a:pPr algn="ctr">
              <a:lnSpc>
                <a:spcPts val="5400"/>
              </a:lnSpc>
            </a:pPr>
            <a:r>
              <a:rPr lang="en-US" sz="4500" dirty="0" smtClean="0">
                <a:solidFill>
                  <a:srgbClr val="000000"/>
                </a:solidFill>
                <a:latin typeface="League Spartan Bold"/>
              </a:rPr>
              <a:t>RESULTS &amp; FUTURE SCOPE</a:t>
            </a:r>
            <a:endParaRPr lang="en-US" sz="4500" dirty="0">
              <a:solidFill>
                <a:srgbClr val="000000"/>
              </a:solidFill>
              <a:latin typeface="League Spartan Bold"/>
            </a:endParaRPr>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9" name="Rectangle 48"/>
          <p:cNvSpPr/>
          <p:nvPr/>
        </p:nvSpPr>
        <p:spPr>
          <a:xfrm>
            <a:off x="2928288" y="5841343"/>
            <a:ext cx="5029200" cy="2031325"/>
          </a:xfrm>
          <a:prstGeom prst="rect">
            <a:avLst/>
          </a:prstGeom>
        </p:spPr>
        <p:txBody>
          <a:bodyPr wrap="square">
            <a:spAutoFit/>
          </a:bodyPr>
          <a:lstStyle/>
          <a:p>
            <a:r>
              <a:rPr lang="en-IN" b="1" dirty="0"/>
              <a:t>Basically, in our project we have 3 Modules.</a:t>
            </a:r>
          </a:p>
          <a:p>
            <a:endParaRPr lang="en-US" b="1" dirty="0"/>
          </a:p>
          <a:p>
            <a:r>
              <a:rPr lang="en-IN" b="1" dirty="0"/>
              <a:t>Module 1: Analysis on Dataset</a:t>
            </a:r>
            <a:endParaRPr lang="en-US" b="1" dirty="0"/>
          </a:p>
          <a:p>
            <a:r>
              <a:rPr lang="en-IN" b="1" dirty="0"/>
              <a:t>Module 2: Building Machine Learning Model and Performance </a:t>
            </a:r>
            <a:r>
              <a:rPr lang="en-IN" b="1" dirty="0">
                <a:latin typeface="Times New Roman" panose="02020603050405020304" pitchFamily="18" charset="0"/>
                <a:cs typeface="Times New Roman" panose="02020603050405020304" pitchFamily="18" charset="0"/>
              </a:rPr>
              <a:t>Evaluation</a:t>
            </a:r>
            <a:endParaRPr lang="en-US" b="1" dirty="0">
              <a:latin typeface="Times New Roman" panose="02020603050405020304" pitchFamily="18" charset="0"/>
              <a:cs typeface="Times New Roman" panose="02020603050405020304" pitchFamily="18" charset="0"/>
            </a:endParaRPr>
          </a:p>
          <a:p>
            <a:r>
              <a:rPr lang="en-IN" b="1" dirty="0"/>
              <a:t>Module 3: Created Web Application to demonstrate the result.</a:t>
            </a:r>
            <a:endParaRPr lang="en-US" b="1" dirty="0"/>
          </a:p>
        </p:txBody>
      </p:sp>
      <p:grpSp>
        <p:nvGrpSpPr>
          <p:cNvPr id="50" name="Group 3"/>
          <p:cNvGrpSpPr/>
          <p:nvPr/>
        </p:nvGrpSpPr>
        <p:grpSpPr>
          <a:xfrm>
            <a:off x="9877603" y="4174866"/>
            <a:ext cx="5724318" cy="5208185"/>
            <a:chOff x="0" y="0"/>
            <a:chExt cx="996273" cy="1291426"/>
          </a:xfrm>
        </p:grpSpPr>
        <p:sp>
          <p:nvSpPr>
            <p:cNvPr id="51" name="Freeform 4"/>
            <p:cNvSpPr/>
            <p:nvPr/>
          </p:nvSpPr>
          <p:spPr>
            <a:xfrm>
              <a:off x="0" y="0"/>
              <a:ext cx="996273" cy="1291426"/>
            </a:xfrm>
            <a:custGeom>
              <a:avLst/>
              <a:gdLst/>
              <a:ahLst/>
              <a:cxnLst/>
              <a:rect l="l" t="t" r="r" b="b"/>
              <a:pathLst>
                <a:path w="996273" h="1291426">
                  <a:moveTo>
                    <a:pt x="110519" y="0"/>
                  </a:moveTo>
                  <a:lnTo>
                    <a:pt x="885754" y="0"/>
                  </a:lnTo>
                  <a:cubicBezTo>
                    <a:pt x="915066" y="0"/>
                    <a:pt x="943177" y="11644"/>
                    <a:pt x="963903" y="32370"/>
                  </a:cubicBezTo>
                  <a:cubicBezTo>
                    <a:pt x="984629" y="53097"/>
                    <a:pt x="996273" y="81208"/>
                    <a:pt x="996273" y="110519"/>
                  </a:cubicBezTo>
                  <a:lnTo>
                    <a:pt x="996273" y="1180907"/>
                  </a:lnTo>
                  <a:cubicBezTo>
                    <a:pt x="996273" y="1241945"/>
                    <a:pt x="946792" y="1291426"/>
                    <a:pt x="885754" y="1291426"/>
                  </a:cubicBezTo>
                  <a:lnTo>
                    <a:pt x="110519" y="1291426"/>
                  </a:lnTo>
                  <a:cubicBezTo>
                    <a:pt x="81208" y="1291426"/>
                    <a:pt x="53097" y="1279782"/>
                    <a:pt x="32370" y="1259056"/>
                  </a:cubicBezTo>
                  <a:cubicBezTo>
                    <a:pt x="11644" y="1238330"/>
                    <a:pt x="0" y="1210219"/>
                    <a:pt x="0" y="1180907"/>
                  </a:cubicBezTo>
                  <a:lnTo>
                    <a:pt x="0" y="110519"/>
                  </a:lnTo>
                  <a:cubicBezTo>
                    <a:pt x="0" y="81208"/>
                    <a:pt x="11644" y="53097"/>
                    <a:pt x="32370" y="32370"/>
                  </a:cubicBezTo>
                  <a:cubicBezTo>
                    <a:pt x="53097" y="11644"/>
                    <a:pt x="81208" y="0"/>
                    <a:pt x="110519" y="0"/>
                  </a:cubicBezTo>
                  <a:close/>
                </a:path>
              </a:pathLst>
            </a:custGeom>
            <a:solidFill>
              <a:srgbClr val="FFBC00"/>
            </a:solidFill>
          </p:spPr>
        </p:sp>
        <p:sp>
          <p:nvSpPr>
            <p:cNvPr id="52" name="TextBox 5"/>
            <p:cNvSpPr txBox="1"/>
            <p:nvPr/>
          </p:nvSpPr>
          <p:spPr>
            <a:xfrm>
              <a:off x="0" y="-57150"/>
              <a:ext cx="996273" cy="1348576"/>
            </a:xfrm>
            <a:prstGeom prst="rect">
              <a:avLst/>
            </a:prstGeom>
          </p:spPr>
          <p:txBody>
            <a:bodyPr lIns="50800" tIns="50800" rIns="50800" bIns="50800" rtlCol="0" anchor="ctr"/>
            <a:lstStyle/>
            <a:p>
              <a:pPr algn="ctr">
                <a:lnSpc>
                  <a:spcPts val="2659"/>
                </a:lnSpc>
              </a:pPr>
              <a:endParaRPr dirty="0"/>
            </a:p>
          </p:txBody>
        </p:sp>
      </p:grpSp>
      <p:grpSp>
        <p:nvGrpSpPr>
          <p:cNvPr id="53" name="Group 15"/>
          <p:cNvGrpSpPr/>
          <p:nvPr/>
        </p:nvGrpSpPr>
        <p:grpSpPr>
          <a:xfrm>
            <a:off x="11911134" y="3696221"/>
            <a:ext cx="1190707" cy="1190707"/>
            <a:chOff x="0" y="0"/>
            <a:chExt cx="812800" cy="812800"/>
          </a:xfrm>
        </p:grpSpPr>
        <p:sp>
          <p:nvSpPr>
            <p:cNvPr id="54"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D60"/>
            </a:solidFill>
          </p:spPr>
        </p:sp>
        <p:sp>
          <p:nvSpPr>
            <p:cNvPr id="55" name="TextBox 1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dirty="0"/>
            </a:p>
          </p:txBody>
        </p:sp>
      </p:grpSp>
      <p:sp>
        <p:nvSpPr>
          <p:cNvPr id="56" name="Rectangle 55"/>
          <p:cNvSpPr/>
          <p:nvPr/>
        </p:nvSpPr>
        <p:spPr>
          <a:xfrm>
            <a:off x="11353800" y="5096724"/>
            <a:ext cx="2056973" cy="369332"/>
          </a:xfrm>
          <a:prstGeom prst="rect">
            <a:avLst/>
          </a:prstGeom>
        </p:spPr>
        <p:txBody>
          <a:bodyPr wrap="none">
            <a:spAutoFit/>
          </a:bodyPr>
          <a:lstStyle/>
          <a:p>
            <a:r>
              <a:rPr lang="en-US" b="1" dirty="0">
                <a:solidFill>
                  <a:srgbClr val="000000"/>
                </a:solidFill>
                <a:latin typeface="League Spartan Bold"/>
              </a:rPr>
              <a:t>FUTURE SCOPE </a:t>
            </a:r>
            <a:endParaRPr lang="en-US" b="1" dirty="0"/>
          </a:p>
        </p:txBody>
      </p:sp>
      <p:sp>
        <p:nvSpPr>
          <p:cNvPr id="58" name="TextBox 57">
            <a:extLst>
              <a:ext uri="{FF2B5EF4-FFF2-40B4-BE49-F238E27FC236}">
                <a16:creationId xmlns:a16="http://schemas.microsoft.com/office/drawing/2014/main" xmlns="" id="{97D75CBD-8FE9-02DB-86DF-EF393D66C843}"/>
              </a:ext>
            </a:extLst>
          </p:cNvPr>
          <p:cNvSpPr txBox="1"/>
          <p:nvPr/>
        </p:nvSpPr>
        <p:spPr>
          <a:xfrm>
            <a:off x="10054627" y="5787683"/>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 </a:t>
            </a:r>
            <a:r>
              <a:rPr lang="en-IN" sz="1800" dirty="0">
                <a:effectLst/>
                <a:latin typeface="Calibri" panose="020F0502020204030204" pitchFamily="34" charset="0"/>
                <a:ea typeface="Calibri" panose="020F0502020204030204" pitchFamily="34" charset="0"/>
                <a:cs typeface="Calibri" panose="020F0502020204030204" pitchFamily="34" charset="0"/>
              </a:rPr>
              <a:t>Advanced Machine Learning Models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9" name="TextBox 58">
            <a:extLst>
              <a:ext uri="{FF2B5EF4-FFF2-40B4-BE49-F238E27FC236}">
                <a16:creationId xmlns:a16="http://schemas.microsoft.com/office/drawing/2014/main" xmlns="" id="{E496EA69-65F1-4777-C19E-57D58040747B}"/>
              </a:ext>
            </a:extLst>
          </p:cNvPr>
          <p:cNvSpPr txBox="1"/>
          <p:nvPr/>
        </p:nvSpPr>
        <p:spPr>
          <a:xfrm>
            <a:off x="10140165" y="6315280"/>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b="1" dirty="0">
                <a:effectLst/>
                <a:latin typeface="Calibri" panose="020F0502020204030204" pitchFamily="34" charset="0"/>
                <a:ea typeface="Calibri" panose="020F0502020204030204" pitchFamily="34" charset="0"/>
                <a:cs typeface="Calibri" panose="020F0502020204030204" pitchFamily="34" charset="0"/>
              </a:rPr>
              <a:t>Multimodal Data Integration</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60" name="TextBox 59">
            <a:extLst>
              <a:ext uri="{FF2B5EF4-FFF2-40B4-BE49-F238E27FC236}">
                <a16:creationId xmlns:a16="http://schemas.microsoft.com/office/drawing/2014/main" xmlns="" id="{25D2745D-A9AB-C78A-FF17-F14CA38DC09B}"/>
              </a:ext>
            </a:extLst>
          </p:cNvPr>
          <p:cNvSpPr txBox="1"/>
          <p:nvPr/>
        </p:nvSpPr>
        <p:spPr>
          <a:xfrm>
            <a:off x="10196217" y="6857005"/>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b="1" dirty="0">
                <a:effectLst/>
                <a:latin typeface="Calibri" panose="020F0502020204030204" pitchFamily="34" charset="0"/>
                <a:ea typeface="Calibri" panose="020F0502020204030204" pitchFamily="34" charset="0"/>
                <a:cs typeface="Calibri" panose="020F0502020204030204" pitchFamily="34" charset="0"/>
              </a:rPr>
              <a:t>Early Detection and Intervention</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61" name="TextBox 60">
            <a:extLst>
              <a:ext uri="{FF2B5EF4-FFF2-40B4-BE49-F238E27FC236}">
                <a16:creationId xmlns:a16="http://schemas.microsoft.com/office/drawing/2014/main" xmlns="" id="{AB29643B-0313-3851-08F0-D087D7C1C763}"/>
              </a:ext>
            </a:extLst>
          </p:cNvPr>
          <p:cNvSpPr txBox="1"/>
          <p:nvPr/>
        </p:nvSpPr>
        <p:spPr>
          <a:xfrm>
            <a:off x="10236574" y="7456817"/>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b="1" dirty="0">
                <a:effectLst/>
                <a:latin typeface="Calibri" panose="020F0502020204030204" pitchFamily="34" charset="0"/>
                <a:ea typeface="Calibri" panose="020F0502020204030204" pitchFamily="34" charset="0"/>
                <a:cs typeface="Calibri" panose="020F0502020204030204" pitchFamily="34" charset="0"/>
              </a:rPr>
              <a:t>Longitudinal Studies</a:t>
            </a:r>
            <a:endParaRPr lang="en-IN" b="1" dirty="0">
              <a:latin typeface="Calibri" panose="020F0502020204030204" pitchFamily="34" charset="0"/>
              <a:ea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xmlns="" id="{69C07C5B-151C-D422-D5A7-937E9162087B}"/>
              </a:ext>
            </a:extLst>
          </p:cNvPr>
          <p:cNvSpPr txBox="1"/>
          <p:nvPr/>
        </p:nvSpPr>
        <p:spPr>
          <a:xfrm>
            <a:off x="10286958" y="8089255"/>
            <a:ext cx="6094428" cy="369332"/>
          </a:xfrm>
          <a:prstGeom prst="rect">
            <a:avLst/>
          </a:prstGeom>
          <a:noFill/>
        </p:spPr>
        <p:txBody>
          <a:bodyPr wrap="square">
            <a:spAutoFit/>
          </a:bodyPr>
          <a:lstStyle/>
          <a:p>
            <a:pPr marL="285750" indent="-285750">
              <a:buFont typeface="Arial" panose="020B0604020202020204" pitchFamily="34" charset="0"/>
              <a:buChar char="•"/>
            </a:pPr>
            <a:r>
              <a:rPr lang="en-IN" sz="1800" dirty="0">
                <a:effectLst/>
                <a:latin typeface="Times New Roman" panose="02020603050405020304" pitchFamily="18" charset="0"/>
                <a:ea typeface="Calibri" panose="020F0502020204030204" pitchFamily="34" charset="0"/>
              </a:rPr>
              <a:t>Explainable AI in Healthcare</a:t>
            </a:r>
            <a:endParaRPr lang="en-IN" dirty="0"/>
          </a:p>
        </p:txBody>
      </p:sp>
      <p:sp>
        <p:nvSpPr>
          <p:cNvPr id="63" name="Rectangle 62"/>
          <p:cNvSpPr/>
          <p:nvPr/>
        </p:nvSpPr>
        <p:spPr>
          <a:xfrm>
            <a:off x="4663988" y="4907072"/>
            <a:ext cx="1244764" cy="664284"/>
          </a:xfrm>
          <a:prstGeom prst="rect">
            <a:avLst/>
          </a:prstGeom>
        </p:spPr>
        <p:txBody>
          <a:bodyPr wrap="none">
            <a:spAutoFit/>
          </a:bodyPr>
          <a:lstStyle/>
          <a:p>
            <a:pPr algn="ctr">
              <a:lnSpc>
                <a:spcPts val="5400"/>
              </a:lnSpc>
            </a:pPr>
            <a:r>
              <a:rPr lang="en-US" b="1" dirty="0">
                <a:solidFill>
                  <a:srgbClr val="000000"/>
                </a:solidFill>
                <a:latin typeface="League Spartan Bold"/>
              </a:rPr>
              <a:t>RESULTS</a:t>
            </a:r>
          </a:p>
        </p:txBody>
      </p:sp>
    </p:spTree>
    <p:extLst>
      <p:ext uri="{BB962C8B-B14F-4D97-AF65-F5344CB8AC3E}">
        <p14:creationId xmlns:p14="http://schemas.microsoft.com/office/powerpoint/2010/main" val="316733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0777"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4"/>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334" b="5778"/>
          <a:stretch/>
        </p:blipFill>
        <p:spPr bwMode="auto">
          <a:xfrm>
            <a:off x="1874522" y="2570605"/>
            <a:ext cx="13511994" cy="6755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Freeform 29"/>
          <p:cNvSpPr/>
          <p:nvPr/>
        </p:nvSpPr>
        <p:spPr>
          <a:xfrm>
            <a:off x="3505200" y="406033"/>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HOMEPAGE</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03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11"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4183" b="5883"/>
          <a:stretch/>
        </p:blipFill>
        <p:spPr bwMode="auto">
          <a:xfrm>
            <a:off x="2438400" y="2933700"/>
            <a:ext cx="12849761" cy="65004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730381" y="-67508"/>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DATA ANALYSIS</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5486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3824" b="6332"/>
          <a:stretch/>
        </p:blipFill>
        <p:spPr bwMode="auto">
          <a:xfrm>
            <a:off x="2133600" y="2857500"/>
            <a:ext cx="13570086"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640924" y="300980"/>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MODEL ACCURACY</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087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t="7937" b="6349"/>
          <a:stretch/>
        </p:blipFill>
        <p:spPr bwMode="auto">
          <a:xfrm>
            <a:off x="1614469" y="2324100"/>
            <a:ext cx="14856178" cy="716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764839" y="-29059"/>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ABOUT US</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7099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t="5000" b="6666"/>
          <a:stretch/>
        </p:blipFill>
        <p:spPr bwMode="auto">
          <a:xfrm>
            <a:off x="1519423" y="2077606"/>
            <a:ext cx="15087600" cy="7496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505200" y="0"/>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LOGIN MODULE</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7792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t="5085" b="5085"/>
          <a:stretch/>
        </p:blipFill>
        <p:spPr bwMode="auto">
          <a:xfrm>
            <a:off x="1676400" y="2269962"/>
            <a:ext cx="15182491" cy="754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505200" y="78913"/>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SIGN UP MODULE</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8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00" t="-5456" r="1000" b="6819"/>
          <a:stretch/>
        </p:blipFill>
        <p:spPr bwMode="auto">
          <a:xfrm>
            <a:off x="1529206" y="1883573"/>
            <a:ext cx="14962953" cy="811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730381" y="69636"/>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pPr algn="ctr"/>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PREDICTION MODULE	</a:t>
            </a:r>
          </a:p>
          <a:p>
            <a:pPr algn="ctr"/>
            <a:endParaRPr lang="en-US" sz="4000" b="1" dirty="0">
              <a:latin typeface="Times New Roman" panose="02020603050405020304" pitchFamily="18" charset="0"/>
              <a:cs typeface="Times New Roman" panose="02020603050405020304" pitchFamily="18" charset="0"/>
            </a:endParaRPr>
          </a:p>
          <a:p>
            <a:pPr algn="ctr"/>
            <a:endParaRPr lang="en-US" sz="4000" b="1" dirty="0" smtClean="0">
              <a:latin typeface="Times New Roman" panose="02020603050405020304" pitchFamily="18" charset="0"/>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r>
              <a:rPr lang="en-US" sz="4000" b="1" dirty="0" smtClean="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15921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8" name="Freeform 29"/>
          <p:cNvSpPr/>
          <p:nvPr/>
        </p:nvSpPr>
        <p:spPr>
          <a:xfrm>
            <a:off x="3698093" y="343828"/>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pPr algn="ctr"/>
            <a:r>
              <a:rPr lang="en-US" sz="4000" b="1" dirty="0" smtClean="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a:p>
            <a:pPr algn="ctr"/>
            <a:r>
              <a:rPr lang="en-US" sz="4000" b="1" dirty="0" smtClean="0">
                <a:latin typeface="Times New Roman" panose="02020603050405020304" pitchFamily="18" charset="0"/>
                <a:cs typeface="Times New Roman" panose="02020603050405020304" pitchFamily="18" charset="0"/>
              </a:rPr>
              <a:t>RESULT PAGE	</a:t>
            </a:r>
          </a:p>
          <a:p>
            <a:pPr algn="ctr"/>
            <a:endParaRPr lang="en-US" sz="4000" b="1" dirty="0">
              <a:latin typeface="Times New Roman" panose="02020603050405020304" pitchFamily="18" charset="0"/>
              <a:cs typeface="Times New Roman" panose="02020603050405020304" pitchFamily="18" charset="0"/>
            </a:endParaRPr>
          </a:p>
          <a:p>
            <a:pPr algn="ctr"/>
            <a:endParaRPr lang="en-US" sz="4000" b="1" dirty="0" smtClean="0">
              <a:latin typeface="Times New Roman" panose="02020603050405020304" pitchFamily="18" charset="0"/>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r>
              <a:rPr lang="en-US" sz="4000" b="1" dirty="0" smtClean="0">
                <a:latin typeface="Times New Roman" panose="02020603050405020304" pitchFamily="18" charset="0"/>
                <a:cs typeface="Times New Roman" panose="02020603050405020304" pitchFamily="18" charset="0"/>
              </a:rPr>
              <a:t>				</a:t>
            </a:r>
          </a:p>
        </p:txBody>
      </p:sp>
      <p:pic>
        <p:nvPicPr>
          <p:cNvPr id="9"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5455" b="5455"/>
          <a:stretch/>
        </p:blipFill>
        <p:spPr bwMode="auto">
          <a:xfrm>
            <a:off x="3698093" y="3086602"/>
            <a:ext cx="11708192" cy="586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4796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4311" b="5212"/>
          <a:stretch/>
        </p:blipFill>
        <p:spPr bwMode="auto">
          <a:xfrm>
            <a:off x="1854404" y="2476500"/>
            <a:ext cx="14373726" cy="731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Freeform 29"/>
          <p:cNvSpPr/>
          <p:nvPr/>
        </p:nvSpPr>
        <p:spPr>
          <a:xfrm>
            <a:off x="3581400" y="221736"/>
            <a:ext cx="10555438" cy="19665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b="1" dirty="0" smtClean="0">
                <a:latin typeface="Times New Roman" panose="02020603050405020304" pitchFamily="18" charset="0"/>
                <a:cs typeface="Times New Roman" panose="02020603050405020304" pitchFamily="18" charset="0"/>
              </a:rPr>
              <a:t>                         </a:t>
            </a:r>
          </a:p>
          <a:p>
            <a:pPr algn="ctr"/>
            <a:r>
              <a:rPr lang="en-US" sz="4000" b="1" dirty="0" smtClean="0">
                <a:latin typeface="Times New Roman" panose="02020603050405020304" pitchFamily="18" charset="0"/>
                <a:cs typeface="Times New Roman" panose="02020603050405020304" pitchFamily="18" charset="0"/>
              </a:rPr>
              <a:t>  RESULT PAGE</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9435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4826"/>
          <a:stretch/>
        </p:blipFill>
        <p:spPr bwMode="auto">
          <a:xfrm>
            <a:off x="1447800" y="1409700"/>
            <a:ext cx="15229936" cy="815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5000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b="5000"/>
          <a:stretch/>
        </p:blipFill>
        <p:spPr bwMode="auto">
          <a:xfrm>
            <a:off x="1371600" y="1181100"/>
            <a:ext cx="15428894" cy="8244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017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pic>
        <p:nvPicPr>
          <p:cNvPr id="7"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b="6249"/>
          <a:stretch/>
        </p:blipFill>
        <p:spPr bwMode="auto">
          <a:xfrm>
            <a:off x="1867157" y="1501468"/>
            <a:ext cx="14709250" cy="7756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49097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1485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414804" y="-624179"/>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 name="Rectangle 3"/>
          <p:cNvSpPr/>
          <p:nvPr/>
        </p:nvSpPr>
        <p:spPr>
          <a:xfrm>
            <a:off x="1352675" y="2394918"/>
            <a:ext cx="14062129" cy="6808082"/>
          </a:xfrm>
          <a:prstGeom prst="rect">
            <a:avLst/>
          </a:prstGeom>
        </p:spPr>
        <p:txBody>
          <a:bodyPr wrap="square">
            <a:spAutoFit/>
          </a:bodyPr>
          <a:lstStyle/>
          <a:p>
            <a:pPr algn="just"/>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IN" sz="2000" b="1" dirty="0">
                <a:latin typeface="Times New Roman" panose="02020603050405020304" pitchFamily="18" charset="0"/>
                <a:cs typeface="Times New Roman" panose="02020603050405020304" pitchFamily="18" charset="0"/>
              </a:rPr>
              <a:t>Software Requirements</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Scripting language		          : Python Programming</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Scripting Tool	                          : Anaconda Navigator (Jupyter Notebook) or Google Colab</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Operating System		          : Microsoft Windows 8/ 10 or 11</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Dataset			                   : UCI Machine Learning Repository  - Autism Dataset</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Machine Learning Packages       : Numpy, Pandas, Matplotlib , Seaborn Packages etc.. </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Web Application Platform          :  Flask ( Python Full Stack Framework )	</a:t>
            </a:r>
          </a:p>
          <a:p>
            <a:pPr algn="just">
              <a:lnSpc>
                <a:spcPct val="150000"/>
              </a:lnSpc>
            </a:pPr>
            <a:r>
              <a:rPr lang="en-IN" sz="2000" b="1"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IN" sz="2000" b="1" dirty="0">
                <a:latin typeface="Times New Roman" panose="02020603050405020304" pitchFamily="18" charset="0"/>
                <a:cs typeface="Times New Roman" panose="02020603050405020304" pitchFamily="18" charset="0"/>
              </a:rPr>
              <a:t>Hardware Requirements</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Processor 			:          3.0 GHz and Above</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Output Devices		:	Monitor (LCD)</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Input Devices			:	Keyboard</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Hard Disk			:	1 TB</a:t>
            </a:r>
            <a:endParaRPr lang="en-US" sz="2000" b="1"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RAM                               	 :          8GB or Above</a:t>
            </a:r>
            <a:endParaRPr lang="en-US" sz="2000" b="1" dirty="0">
              <a:latin typeface="Times New Roman" panose="02020603050405020304" pitchFamily="18" charset="0"/>
              <a:cs typeface="Times New Roman" panose="02020603050405020304" pitchFamily="18" charset="0"/>
            </a:endParaRPr>
          </a:p>
        </p:txBody>
      </p:sp>
      <p:grpSp>
        <p:nvGrpSpPr>
          <p:cNvPr id="22" name="Group 28"/>
          <p:cNvGrpSpPr/>
          <p:nvPr/>
        </p:nvGrpSpPr>
        <p:grpSpPr>
          <a:xfrm>
            <a:off x="1477820" y="428383"/>
            <a:ext cx="14429830" cy="1966535"/>
            <a:chOff x="0" y="0"/>
            <a:chExt cx="2780033" cy="517935"/>
          </a:xfrm>
        </p:grpSpPr>
        <p:sp>
          <p:nvSpPr>
            <p:cNvPr id="23" name="Freeform 29"/>
            <p:cNvSpPr/>
            <p:nvPr/>
          </p:nvSpPr>
          <p:spPr>
            <a:xfrm>
              <a:off x="0" y="0"/>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sp>
        <p:sp>
          <p:nvSpPr>
            <p:cNvPr id="24"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
        <p:nvSpPr>
          <p:cNvPr id="5" name="Rectangle 4"/>
          <p:cNvSpPr/>
          <p:nvPr/>
        </p:nvSpPr>
        <p:spPr>
          <a:xfrm>
            <a:off x="3395760" y="940912"/>
            <a:ext cx="9926821" cy="646331"/>
          </a:xfrm>
          <a:prstGeom prst="rect">
            <a:avLst/>
          </a:prstGeom>
        </p:spPr>
        <p:txBody>
          <a:bodyPr wrap="none">
            <a:spAutoFit/>
          </a:bodyPr>
          <a:lstStyle/>
          <a:p>
            <a:pPr algn="ctr"/>
            <a:r>
              <a:rPr lang="en-US" sz="3600" b="1" dirty="0">
                <a:latin typeface="Times New Roman" panose="02020603050405020304" pitchFamily="18" charset="0"/>
                <a:cs typeface="Times New Roman" panose="02020603050405020304" pitchFamily="18" charset="0"/>
              </a:rPr>
              <a:t>SYSTEM REQUIRMENT &amp; SPECIFICATIONS</a:t>
            </a:r>
          </a:p>
        </p:txBody>
      </p:sp>
    </p:spTree>
    <p:extLst>
      <p:ext uri="{BB962C8B-B14F-4D97-AF65-F5344CB8AC3E}">
        <p14:creationId xmlns:p14="http://schemas.microsoft.com/office/powerpoint/2010/main" val="3308029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956"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3" name="Rectangle 2"/>
          <p:cNvSpPr/>
          <p:nvPr/>
        </p:nvSpPr>
        <p:spPr>
          <a:xfrm>
            <a:off x="228600" y="2498173"/>
            <a:ext cx="17373600" cy="7709803"/>
          </a:xfrm>
          <a:prstGeom prst="rect">
            <a:avLst/>
          </a:prstGeom>
        </p:spPr>
        <p:txBody>
          <a:bodyPr wrap="square">
            <a:spAutoFit/>
          </a:bodyPr>
          <a:lstStyle/>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The future scope of Autism Spectrum Disorder (ASD) detection holds promising opportunities for advancements in technology, research, and healthcare.</a:t>
            </a:r>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1. Advanced Machine Learning Models: Continued development of more sophisticated machine learning and deep learning models for ASD detection. This includes exploring architectures like transformers, attention mechanisms, and ensemble methods to improve accuracy.</a:t>
            </a:r>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2. Multimodal Data Integration: Integration of data from various sources, such as behavioural observations, speech patterns, neuroimaging, genetic data, and wearable devices. Multimodal data fusion can provide a more comprehensive understanding of ASD and enhance predictive models.</a:t>
            </a:r>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3. Early Detection and Intervention: Emphasis on early detection and intervention strategies. Leveraging machine learning to identify early signs of ASD in infancy or early childhood can significantly improve outcomes by facilitating timely intervention and support.</a:t>
            </a:r>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4. Longitudinal Studies: Conducting longitudinal studies to capture the developmental trajectories of individuals with ASD. Machine learning models can be trained on longitudinal data to identify patterns that may evolve over time, leading to more personalized interventions.</a:t>
            </a:r>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5. Explainable AI in Healthcare: Integration of explainable AI techniques to enhance the interpretability of ASD detection models. Understanding how models arrive at their predictions is crucial, especially in healthcare settings, where interpretability is essential for gaining trust from healthcare professionals.</a:t>
            </a:r>
            <a:endParaRPr lang="en-US" sz="22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sz="2200" b="1" kern="100" dirty="0">
                <a:latin typeface="Times New Roman" panose="02020603050405020304" pitchFamily="18" charset="0"/>
                <a:ea typeface="Calibri" panose="020F0502020204030204" pitchFamily="34" charset="0"/>
                <a:cs typeface="Times New Roman" panose="02020603050405020304" pitchFamily="18" charset="0"/>
              </a:rPr>
              <a:t> </a:t>
            </a:r>
            <a:endParaRPr lang="en-US" sz="22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30"/>
          <p:cNvSpPr txBox="1"/>
          <p:nvPr/>
        </p:nvSpPr>
        <p:spPr>
          <a:xfrm>
            <a:off x="3504556" y="531620"/>
            <a:ext cx="10592444" cy="1640080"/>
          </a:xfrm>
          <a:prstGeom prst="rect">
            <a:avLst/>
          </a:prstGeom>
        </p:spPr>
        <p:txBody>
          <a:bodyPr lIns="50800" tIns="50800" rIns="50800" bIns="50800" rtlCol="0" anchor="ctr"/>
          <a:lstStyle/>
          <a:p>
            <a:pPr algn="ctr">
              <a:lnSpc>
                <a:spcPts val="2659"/>
              </a:lnSpc>
            </a:pPr>
            <a:endParaRPr dirty="0"/>
          </a:p>
        </p:txBody>
      </p:sp>
      <p:grpSp>
        <p:nvGrpSpPr>
          <p:cNvPr id="15" name="Group 28"/>
          <p:cNvGrpSpPr/>
          <p:nvPr/>
        </p:nvGrpSpPr>
        <p:grpSpPr>
          <a:xfrm>
            <a:off x="3317790" y="207971"/>
            <a:ext cx="10691340" cy="2211179"/>
            <a:chOff x="-35793" y="-64433"/>
            <a:chExt cx="2815826" cy="582368"/>
          </a:xfrm>
        </p:grpSpPr>
        <p:sp>
          <p:nvSpPr>
            <p:cNvPr id="16" name="Freeform 29"/>
            <p:cNvSpPr/>
            <p:nvPr/>
          </p:nvSpPr>
          <p:spPr>
            <a:xfrm>
              <a:off x="-35793" y="-64433"/>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dirty="0" smtClean="0">
                  <a:latin typeface="Times New Roman" panose="02020603050405020304" pitchFamily="18" charset="0"/>
                  <a:cs typeface="Times New Roman" panose="02020603050405020304" pitchFamily="18" charset="0"/>
                </a:rPr>
                <a:t>                         </a:t>
              </a:r>
            </a:p>
            <a:p>
              <a:pPr algn="ctr"/>
              <a:r>
                <a:rPr lang="en-US" sz="4000" dirty="0" smtClean="0">
                  <a:latin typeface="Times New Roman" panose="02020603050405020304" pitchFamily="18" charset="0"/>
                  <a:cs typeface="Times New Roman" panose="02020603050405020304" pitchFamily="18" charset="0"/>
                </a:rPr>
                <a:t>  FUTURE SCOPE</a:t>
              </a:r>
              <a:endParaRPr lang="en-US" sz="4000" dirty="0">
                <a:latin typeface="Times New Roman" panose="02020603050405020304" pitchFamily="18" charset="0"/>
                <a:cs typeface="Times New Roman" panose="02020603050405020304" pitchFamily="18" charset="0"/>
              </a:endParaRPr>
            </a:p>
          </p:txBody>
        </p:sp>
        <p:sp>
          <p:nvSpPr>
            <p:cNvPr id="17"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Tree>
    <p:extLst>
      <p:ext uri="{BB962C8B-B14F-4D97-AF65-F5344CB8AC3E}">
        <p14:creationId xmlns:p14="http://schemas.microsoft.com/office/powerpoint/2010/main" val="1224859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grpSp>
        <p:nvGrpSpPr>
          <p:cNvPr id="28" name="Group 28"/>
          <p:cNvGrpSpPr/>
          <p:nvPr/>
        </p:nvGrpSpPr>
        <p:grpSpPr>
          <a:xfrm>
            <a:off x="3352800" y="366280"/>
            <a:ext cx="10691340" cy="2211179"/>
            <a:chOff x="-35793" y="-64433"/>
            <a:chExt cx="2815826" cy="582368"/>
          </a:xfrm>
        </p:grpSpPr>
        <p:sp>
          <p:nvSpPr>
            <p:cNvPr id="29" name="Freeform 29"/>
            <p:cNvSpPr/>
            <p:nvPr/>
          </p:nvSpPr>
          <p:spPr>
            <a:xfrm>
              <a:off x="-35793" y="-64433"/>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dirty="0" smtClean="0">
                  <a:latin typeface="Times New Roman" panose="02020603050405020304" pitchFamily="18" charset="0"/>
                  <a:cs typeface="Times New Roman" panose="02020603050405020304" pitchFamily="18" charset="0"/>
                </a:rPr>
                <a:t>                         </a:t>
              </a:r>
            </a:p>
            <a:p>
              <a:pPr algn="ctr"/>
              <a:r>
                <a:rPr lang="en-US" sz="4000" dirty="0" smtClean="0">
                  <a:latin typeface="Times New Roman" panose="02020603050405020304" pitchFamily="18" charset="0"/>
                  <a:cs typeface="Times New Roman" panose="02020603050405020304" pitchFamily="18" charset="0"/>
                </a:rPr>
                <a:t>  CONCLUSION</a:t>
              </a:r>
              <a:endParaRPr lang="en-US" sz="4000" dirty="0">
                <a:latin typeface="Times New Roman" panose="02020603050405020304" pitchFamily="18" charset="0"/>
                <a:cs typeface="Times New Roman" panose="02020603050405020304" pitchFamily="18" charset="0"/>
              </a:endParaRPr>
            </a:p>
          </p:txBody>
        </p:sp>
        <p:sp>
          <p:nvSpPr>
            <p:cNvPr id="30"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10" name="Rectangle 9"/>
          <p:cNvSpPr/>
          <p:nvPr/>
        </p:nvSpPr>
        <p:spPr>
          <a:xfrm>
            <a:off x="666182" y="3328091"/>
            <a:ext cx="15392400" cy="6093976"/>
          </a:xfrm>
          <a:prstGeom prst="rect">
            <a:avLst/>
          </a:prstGeom>
        </p:spPr>
        <p:txBody>
          <a:bodyPr wrap="square">
            <a:spAutoFit/>
          </a:bodyPr>
          <a:lstStyle/>
          <a:p>
            <a:pPr algn="just"/>
            <a:r>
              <a:rPr lang="en-IN" sz="2600" b="1" dirty="0" smtClean="0"/>
              <a:t>The </a:t>
            </a:r>
            <a:r>
              <a:rPr lang="en-IN" sz="2600" b="1" dirty="0"/>
              <a:t>development of the Autism Spectrum Disorder Detection System marks a significant step forward in the realm of healthcare and technology. </a:t>
            </a:r>
            <a:endParaRPr lang="en-IN" sz="2600" b="1" dirty="0" smtClean="0"/>
          </a:p>
          <a:p>
            <a:pPr marL="285750" indent="-285750" algn="just">
              <a:buFont typeface="Arial" panose="020B0604020202020204" pitchFamily="34" charset="0"/>
              <a:buChar char="•"/>
            </a:pPr>
            <a:r>
              <a:rPr lang="en-IN" sz="2600" b="1" dirty="0" smtClean="0"/>
              <a:t>Through </a:t>
            </a:r>
            <a:r>
              <a:rPr lang="en-IN" sz="2600" b="1" dirty="0"/>
              <a:t>the careful integration of machine learning algorithms, data analysis, and an extensive dataset, we have strived to create a tool that not only aids in the early diagnosis of Autism but also offers valuable insights for intervention and treatment strategies. </a:t>
            </a:r>
            <a:endParaRPr lang="en-IN" sz="2600" b="1" dirty="0" smtClean="0"/>
          </a:p>
          <a:p>
            <a:pPr marL="285750" indent="-285750" algn="just">
              <a:buFont typeface="Arial" panose="020B0604020202020204" pitchFamily="34" charset="0"/>
              <a:buChar char="•"/>
            </a:pPr>
            <a:r>
              <a:rPr lang="en-IN" sz="2600" b="1" dirty="0" smtClean="0"/>
              <a:t>we </a:t>
            </a:r>
            <a:r>
              <a:rPr lang="en-IN" sz="2600" b="1" dirty="0"/>
              <a:t>recognize the immense potential it holds in improving the lives of individuals and families affected by Autism. </a:t>
            </a:r>
            <a:endParaRPr lang="en-IN" sz="2600" b="1" dirty="0" smtClean="0"/>
          </a:p>
          <a:p>
            <a:pPr marL="285750" indent="-285750" algn="just">
              <a:buFont typeface="Arial" panose="020B0604020202020204" pitchFamily="34" charset="0"/>
              <a:buChar char="•"/>
            </a:pPr>
            <a:endParaRPr lang="en-IN" sz="2600" b="1" dirty="0"/>
          </a:p>
          <a:p>
            <a:pPr marL="285750" indent="-285750" algn="just">
              <a:buFont typeface="Arial" panose="020B0604020202020204" pitchFamily="34" charset="0"/>
              <a:buChar char="•"/>
            </a:pPr>
            <a:r>
              <a:rPr lang="en-IN" sz="2600" b="1" dirty="0" smtClean="0"/>
              <a:t>However</a:t>
            </a:r>
            <a:r>
              <a:rPr lang="en-IN" sz="2600" b="1" dirty="0"/>
              <a:t>, we also acknowledge the ongoing need for collaboration with healthcare professionals, ethical considerations, and </a:t>
            </a:r>
            <a:r>
              <a:rPr lang="en-IN" sz="2400" b="1" dirty="0">
                <a:latin typeface="Times New Roman" panose="02020603050405020304" pitchFamily="18" charset="0"/>
                <a:cs typeface="Times New Roman" panose="02020603050405020304" pitchFamily="18" charset="0"/>
              </a:rPr>
              <a:t>continuous</a:t>
            </a:r>
            <a:r>
              <a:rPr lang="en-IN" sz="2600" b="1" dirty="0"/>
              <a:t> refinement to ensure its effectiveness and ethical use. </a:t>
            </a:r>
            <a:endParaRPr lang="en-IN" sz="2600" b="1" dirty="0" smtClean="0"/>
          </a:p>
          <a:p>
            <a:pPr marL="285750" indent="-285750" algn="just">
              <a:buFont typeface="Arial" panose="020B0604020202020204" pitchFamily="34" charset="0"/>
              <a:buChar char="•"/>
            </a:pPr>
            <a:endParaRPr lang="en-IN" sz="2600" b="1" dirty="0"/>
          </a:p>
          <a:p>
            <a:pPr marL="285750" indent="-285750" algn="just">
              <a:buFont typeface="Arial" panose="020B0604020202020204" pitchFamily="34" charset="0"/>
              <a:buChar char="•"/>
            </a:pPr>
            <a:r>
              <a:rPr lang="en-IN" sz="2600" b="1" dirty="0" smtClean="0"/>
              <a:t>With </a:t>
            </a:r>
            <a:r>
              <a:rPr lang="en-IN" sz="2600" b="1" dirty="0"/>
              <a:t>a commitment to empathy, inclusivity, and rigorous research, we aspire to see this system contribute positively to the broader conversation surrounding Autism Spectrum Disorder diagnosis and care. </a:t>
            </a:r>
            <a:endParaRPr lang="en-IN" sz="2600" b="1" dirty="0" smtClean="0"/>
          </a:p>
          <a:p>
            <a:pPr marL="285750" indent="-285750" algn="just">
              <a:buFont typeface="Arial" panose="020B0604020202020204" pitchFamily="34" charset="0"/>
              <a:buChar char="•"/>
            </a:pPr>
            <a:r>
              <a:rPr lang="en-IN" sz="2600" b="1" dirty="0" smtClean="0"/>
              <a:t>Our </a:t>
            </a:r>
            <a:r>
              <a:rPr lang="en-IN" sz="2600" b="1" dirty="0"/>
              <a:t>hope is that this project will serve as a catalyst for further innovation and support in the field of Autism research and assistance.</a:t>
            </a:r>
            <a:endParaRPr lang="en-US" sz="2600" b="1" dirty="0"/>
          </a:p>
        </p:txBody>
      </p:sp>
    </p:spTree>
    <p:extLst>
      <p:ext uri="{BB962C8B-B14F-4D97-AF65-F5344CB8AC3E}">
        <p14:creationId xmlns:p14="http://schemas.microsoft.com/office/powerpoint/2010/main" val="3074374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8634"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711298" y="-222539"/>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txBody>
          <a:bodyPr/>
          <a:lstStyle/>
          <a:p>
            <a:endParaRPr lang="en-US" sz="3600" dirty="0">
              <a:latin typeface="Times New Roman" panose="02020603050405020304" pitchFamily="18" charset="0"/>
              <a:cs typeface="Times New Roman" panose="02020603050405020304" pitchFamily="18" charset="0"/>
            </a:endParaRPr>
          </a:p>
        </p:txBody>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Rectangle 2"/>
          <p:cNvSpPr/>
          <p:nvPr/>
        </p:nvSpPr>
        <p:spPr>
          <a:xfrm>
            <a:off x="1811034" y="2867825"/>
            <a:ext cx="13716000" cy="7227941"/>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1] Thabtah, Fadi. "Machine learning in autistic spectrum disorder behavioral research: A review and ways forward. (2018) " Informatics for Health and Social Care : 1-20. </a:t>
            </a:r>
          </a:p>
          <a:p>
            <a:pPr>
              <a:lnSpc>
                <a:spcPct val="150000"/>
              </a:lnSpc>
            </a:pPr>
            <a:r>
              <a:rPr lang="en-US" sz="2400" b="1" dirty="0">
                <a:latin typeface="Times New Roman" panose="02020603050405020304" pitchFamily="18" charset="0"/>
                <a:cs typeface="Times New Roman" panose="02020603050405020304" pitchFamily="18" charset="0"/>
              </a:rPr>
              <a:t>[2] Thabtah, Fadi, Firuz Kamalov, and Khairan Rajab. (2018) "A new computational intelligence approach to detect autistic features for autism screening." International journal of medical informatics 117: 112-124. </a:t>
            </a:r>
          </a:p>
          <a:p>
            <a:pPr algn="just">
              <a:lnSpc>
                <a:spcPct val="150000"/>
              </a:lnSpc>
            </a:pPr>
            <a:r>
              <a:rPr lang="en-US" sz="2400" b="1" dirty="0">
                <a:latin typeface="Times New Roman" panose="02020603050405020304" pitchFamily="18" charset="0"/>
                <a:cs typeface="Times New Roman" panose="02020603050405020304" pitchFamily="18" charset="0"/>
              </a:rPr>
              <a:t>[3] Vaishali, R., and R. Sasikala. "A machine learning based approach to classify Autism with optimum behaviour sets. (2018) " International Journal of Engineering &amp; Technology 7(4): 18. </a:t>
            </a:r>
          </a:p>
          <a:p>
            <a:pPr>
              <a:lnSpc>
                <a:spcPct val="150000"/>
              </a:lnSpc>
            </a:pPr>
            <a:r>
              <a:rPr lang="en-US" sz="2400" b="1" dirty="0">
                <a:latin typeface="Times New Roman" panose="02020603050405020304" pitchFamily="18" charset="0"/>
                <a:cs typeface="Times New Roman" panose="02020603050405020304" pitchFamily="18" charset="0"/>
              </a:rPr>
              <a:t>[4] Constantino, John N., Patricia D. Lavesser, Y. I. Zhang, Anna M. Abbacchi, Teddi Gray, and Richard D. Todd. (2007) "Rapid quantitative assessment of autistic social impairment by classroom teachers." Journal of the American Academy of Child &amp; Adolescent Psychiatry 46(12): 1668-1676. </a:t>
            </a:r>
          </a:p>
          <a:p>
            <a:pPr>
              <a:lnSpc>
                <a:spcPct val="150000"/>
              </a:lnSpc>
            </a:pPr>
            <a:r>
              <a:rPr lang="en-US" sz="2400" b="1" dirty="0">
                <a:latin typeface="Times New Roman" panose="02020603050405020304" pitchFamily="18" charset="0"/>
                <a:cs typeface="Times New Roman" panose="02020603050405020304" pitchFamily="18" charset="0"/>
              </a:rPr>
              <a:t>[5] Daniel Bone, Matthew S. Goodwin, Matthew P. Black, Chi-Chun Lee, Kartik Audhkhasi, and Shrikanth Narayanan. (2015) "Applying machine learning to facilitate autism diagnostics: pitfalls and promises." Journal of autism and developmental disorders 45(5): 1121-1136. </a:t>
            </a:r>
          </a:p>
        </p:txBody>
      </p:sp>
      <p:grpSp>
        <p:nvGrpSpPr>
          <p:cNvPr id="11" name="Group 28"/>
          <p:cNvGrpSpPr/>
          <p:nvPr/>
        </p:nvGrpSpPr>
        <p:grpSpPr>
          <a:xfrm>
            <a:off x="3352800" y="366280"/>
            <a:ext cx="10691340" cy="2211179"/>
            <a:chOff x="-35793" y="-64433"/>
            <a:chExt cx="2815826" cy="582368"/>
          </a:xfrm>
        </p:grpSpPr>
        <p:sp>
          <p:nvSpPr>
            <p:cNvPr id="12" name="Freeform 29"/>
            <p:cNvSpPr/>
            <p:nvPr/>
          </p:nvSpPr>
          <p:spPr>
            <a:xfrm>
              <a:off x="-35793" y="-64433"/>
              <a:ext cx="2780033" cy="517935"/>
            </a:xfrm>
            <a:custGeom>
              <a:avLst/>
              <a:gdLst/>
              <a:ahLst/>
              <a:cxnLst/>
              <a:rect l="l" t="t" r="r" b="b"/>
              <a:pathLst>
                <a:path w="2780033" h="517935">
                  <a:moveTo>
                    <a:pt x="67478" y="0"/>
                  </a:moveTo>
                  <a:lnTo>
                    <a:pt x="2712556" y="0"/>
                  </a:lnTo>
                  <a:cubicBezTo>
                    <a:pt x="2730452" y="0"/>
                    <a:pt x="2747615" y="7109"/>
                    <a:pt x="2760270" y="19764"/>
                  </a:cubicBezTo>
                  <a:cubicBezTo>
                    <a:pt x="2772924" y="32418"/>
                    <a:pt x="2780033" y="49581"/>
                    <a:pt x="2780033" y="67478"/>
                  </a:cubicBezTo>
                  <a:lnTo>
                    <a:pt x="2780033" y="450457"/>
                  </a:lnTo>
                  <a:cubicBezTo>
                    <a:pt x="2780033" y="487724"/>
                    <a:pt x="2749822" y="517935"/>
                    <a:pt x="2712556" y="517935"/>
                  </a:cubicBezTo>
                  <a:lnTo>
                    <a:pt x="67478" y="517935"/>
                  </a:lnTo>
                  <a:cubicBezTo>
                    <a:pt x="49581" y="517935"/>
                    <a:pt x="32418" y="510826"/>
                    <a:pt x="19764" y="498171"/>
                  </a:cubicBezTo>
                  <a:cubicBezTo>
                    <a:pt x="7109" y="485517"/>
                    <a:pt x="0" y="468354"/>
                    <a:pt x="0" y="450457"/>
                  </a:cubicBezTo>
                  <a:lnTo>
                    <a:pt x="0" y="67478"/>
                  </a:lnTo>
                  <a:cubicBezTo>
                    <a:pt x="0" y="30211"/>
                    <a:pt x="30211" y="0"/>
                    <a:pt x="67478" y="0"/>
                  </a:cubicBezTo>
                  <a:close/>
                </a:path>
              </a:pathLst>
            </a:custGeom>
            <a:solidFill>
              <a:srgbClr val="FFBC00"/>
            </a:solidFill>
          </p:spPr>
          <p:txBody>
            <a:bodyPr/>
            <a:lstStyle/>
            <a:p>
              <a:r>
                <a:rPr lang="en-US" sz="4000" dirty="0" smtClean="0">
                  <a:latin typeface="Times New Roman" panose="02020603050405020304" pitchFamily="18" charset="0"/>
                  <a:cs typeface="Times New Roman" panose="02020603050405020304" pitchFamily="18" charset="0"/>
                </a:rPr>
                <a:t>                         </a:t>
              </a:r>
            </a:p>
            <a:p>
              <a:pPr algn="ctr"/>
              <a:r>
                <a:rPr lang="en-US" sz="4000" dirty="0" smtClean="0">
                  <a:latin typeface="Times New Roman" panose="02020603050405020304" pitchFamily="18" charset="0"/>
                  <a:cs typeface="Times New Roman" panose="02020603050405020304" pitchFamily="18" charset="0"/>
                </a:rPr>
                <a:t>  REFERENCES</a:t>
              </a:r>
              <a:endParaRPr lang="en-US" sz="4000" dirty="0">
                <a:latin typeface="Times New Roman" panose="02020603050405020304" pitchFamily="18" charset="0"/>
                <a:cs typeface="Times New Roman" panose="02020603050405020304" pitchFamily="18" charset="0"/>
              </a:endParaRPr>
            </a:p>
          </p:txBody>
        </p:sp>
        <p:sp>
          <p:nvSpPr>
            <p:cNvPr id="13" name="TextBox 30"/>
            <p:cNvSpPr txBox="1"/>
            <p:nvPr/>
          </p:nvSpPr>
          <p:spPr>
            <a:xfrm>
              <a:off x="0" y="-57150"/>
              <a:ext cx="2780033" cy="575085"/>
            </a:xfrm>
            <a:prstGeom prst="rect">
              <a:avLst/>
            </a:prstGeom>
          </p:spPr>
          <p:txBody>
            <a:bodyPr lIns="50800" tIns="50800" rIns="50800" bIns="50800" rtlCol="0" anchor="ctr"/>
            <a:lstStyle/>
            <a:p>
              <a:pPr algn="ctr">
                <a:lnSpc>
                  <a:spcPts val="2659"/>
                </a:lnSpc>
              </a:pPr>
              <a:endParaRPr dirty="0"/>
            </a:p>
          </p:txBody>
        </p:sp>
      </p:grpSp>
    </p:spTree>
    <p:extLst>
      <p:ext uri="{BB962C8B-B14F-4D97-AF65-F5344CB8AC3E}">
        <p14:creationId xmlns:p14="http://schemas.microsoft.com/office/powerpoint/2010/main" val="27560440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73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20" name="TextBox 20"/>
          <p:cNvSpPr txBox="1"/>
          <p:nvPr/>
        </p:nvSpPr>
        <p:spPr>
          <a:xfrm>
            <a:off x="6621972" y="3787469"/>
            <a:ext cx="967449" cy="1051171"/>
          </a:xfrm>
          <a:prstGeom prst="rect">
            <a:avLst/>
          </a:prstGeom>
        </p:spPr>
        <p:txBody>
          <a:bodyPr lIns="50800" tIns="50800" rIns="50800" bIns="50800" rtlCol="0" anchor="ctr"/>
          <a:lstStyle/>
          <a:p>
            <a:pPr algn="ctr">
              <a:lnSpc>
                <a:spcPts val="2659"/>
              </a:lnSpc>
            </a:pPr>
            <a:endParaRPr dirty="0"/>
          </a:p>
        </p:txBody>
      </p:sp>
      <p:sp>
        <p:nvSpPr>
          <p:cNvPr id="34" name="TextBox 34"/>
          <p:cNvSpPr txBox="1"/>
          <p:nvPr/>
        </p:nvSpPr>
        <p:spPr>
          <a:xfrm>
            <a:off x="6773689" y="3644064"/>
            <a:ext cx="664015" cy="1145635"/>
          </a:xfrm>
          <a:prstGeom prst="rect">
            <a:avLst/>
          </a:prstGeom>
        </p:spPr>
        <p:txBody>
          <a:bodyPr lIns="0" tIns="0" rIns="0" bIns="0" rtlCol="0" anchor="t">
            <a:spAutoFit/>
          </a:bodyPr>
          <a:lstStyle/>
          <a:p>
            <a:pPr algn="ctr">
              <a:lnSpc>
                <a:spcPts val="9417"/>
              </a:lnSpc>
              <a:spcBef>
                <a:spcPct val="0"/>
              </a:spcBef>
            </a:pPr>
            <a:endParaRPr lang="en-US" sz="6727" dirty="0">
              <a:solidFill>
                <a:srgbClr val="FFFFFF"/>
              </a:solidFill>
              <a:latin typeface="Poppins Bold"/>
            </a:endParaRPr>
          </a:p>
        </p:txBody>
      </p:sp>
      <p:sp>
        <p:nvSpPr>
          <p:cNvPr id="44" name="Freeform 44"/>
          <p:cNvSpPr/>
          <p:nvPr/>
        </p:nvSpPr>
        <p:spPr>
          <a:xfrm>
            <a:off x="-1254131" y="-690757"/>
            <a:ext cx="3840627" cy="5012238"/>
          </a:xfrm>
          <a:custGeom>
            <a:avLst/>
            <a:gdLst/>
            <a:ahLst/>
            <a:cxnLst/>
            <a:rect l="l" t="t" r="r" b="b"/>
            <a:pathLst>
              <a:path w="3840627" h="5012238">
                <a:moveTo>
                  <a:pt x="0" y="0"/>
                </a:moveTo>
                <a:lnTo>
                  <a:pt x="3840627" y="0"/>
                </a:lnTo>
                <a:lnTo>
                  <a:pt x="3840627" y="5012238"/>
                </a:lnTo>
                <a:lnTo>
                  <a:pt x="0" y="501223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45" name="Freeform 45"/>
          <p:cNvSpPr/>
          <p:nvPr/>
        </p:nvSpPr>
        <p:spPr>
          <a:xfrm flipH="1">
            <a:off x="15539949" y="-690757"/>
            <a:ext cx="4002181" cy="4945660"/>
          </a:xfrm>
          <a:custGeom>
            <a:avLst/>
            <a:gdLst/>
            <a:ahLst/>
            <a:cxnLst/>
            <a:rect l="l" t="t" r="r" b="b"/>
            <a:pathLst>
              <a:path w="3840627" h="5012238">
                <a:moveTo>
                  <a:pt x="3840627" y="0"/>
                </a:moveTo>
                <a:lnTo>
                  <a:pt x="0" y="0"/>
                </a:lnTo>
                <a:lnTo>
                  <a:pt x="0" y="5012238"/>
                </a:lnTo>
                <a:lnTo>
                  <a:pt x="3840627" y="5012238"/>
                </a:lnTo>
                <a:lnTo>
                  <a:pt x="3840627"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Rectangle 2"/>
          <p:cNvSpPr/>
          <p:nvPr/>
        </p:nvSpPr>
        <p:spPr>
          <a:xfrm>
            <a:off x="1289714" y="2095500"/>
            <a:ext cx="14864686" cy="7781939"/>
          </a:xfrm>
          <a:prstGeom prst="rect">
            <a:avLst/>
          </a:prstGeom>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6] Dennis Paul Wall, J. Kosmicki, T. F. Deluca, E. Harstad, and Vincent Alfred Fusaro. (2012) “Use of machine learning to shorten observationbased screening and diagnosis of autism.” Translational psychiatry, 2(4): e100. </a:t>
            </a:r>
          </a:p>
          <a:p>
            <a:pPr>
              <a:lnSpc>
                <a:spcPct val="150000"/>
              </a:lnSpc>
            </a:pPr>
            <a:r>
              <a:rPr lang="en-US" sz="2400" b="1" dirty="0">
                <a:latin typeface="Times New Roman" panose="02020603050405020304" pitchFamily="18" charset="0"/>
                <a:cs typeface="Times New Roman" panose="02020603050405020304" pitchFamily="18" charset="0"/>
              </a:rPr>
              <a:t>[7] Dennis P. Wall, Rebecca Dally, Rhiannon Luyster, Jae-Yoon Jung, and Todd F. DeLuca. (2012) “Use of artificial intelligence to shorten the behavioral diagnosis of autism.” PloS one, 7(8): e43855. </a:t>
            </a:r>
          </a:p>
          <a:p>
            <a:pPr algn="just">
              <a:lnSpc>
                <a:spcPct val="150000"/>
              </a:lnSpc>
            </a:pPr>
            <a:r>
              <a:rPr lang="en-US" sz="2400" b="1" dirty="0">
                <a:latin typeface="Times New Roman" panose="02020603050405020304" pitchFamily="18" charset="0"/>
                <a:cs typeface="Times New Roman" panose="02020603050405020304" pitchFamily="18" charset="0"/>
              </a:rPr>
              <a:t>[8] Fadi Thabtah. (2017). “Autism spectrum disorder screening: machine learning adaptation and DSM-5 fulfillment.” In Proceedings of the 1st International Conference on Medical and Health Informatics, pp. 1-6. ACM. </a:t>
            </a:r>
          </a:p>
          <a:p>
            <a:pPr>
              <a:lnSpc>
                <a:spcPct val="150000"/>
              </a:lnSpc>
            </a:pPr>
            <a:r>
              <a:rPr lang="en-US" sz="2400" b="1" dirty="0">
                <a:latin typeface="Times New Roman" panose="02020603050405020304" pitchFamily="18" charset="0"/>
                <a:cs typeface="Times New Roman" panose="02020603050405020304" pitchFamily="18" charset="0"/>
              </a:rPr>
              <a:t>[9] Daniel Bone, Chi-Chun Lee, Matthew P. Black, Marian E. Williams, Sungbok Lee, Pat Levitt, and Shrikanth Narayanan.(2014). “The psychologist as an interlocutor in autism spectrum disorder assessment: Insights from a study of spontaneous prosody.” Journal of Speech, Language, and Hearing Research, 57(4): pp.1162-1177. [10] Fadi Thabtah. (2017) “ASD Tests. A mobile app for ASD screening.” www.asdtests.com [accessed December 20th, 2017].</a:t>
            </a:r>
          </a:p>
          <a:p>
            <a:pPr>
              <a:lnSpc>
                <a:spcPct val="150000"/>
              </a:lnSpc>
            </a:pPr>
            <a:r>
              <a:rPr lang="en-US" sz="2400" b="1" dirty="0">
                <a:latin typeface="Times New Roman" panose="02020603050405020304" pitchFamily="18" charset="0"/>
                <a:cs typeface="Times New Roman" panose="02020603050405020304" pitchFamily="18" charset="0"/>
              </a:rPr>
              <a:t>[10] Fadi Thabtah. (2017) “ASD Tests. A mobile app for ASD screening.” www.asdtests.com [accessed December 20th, 2017].</a:t>
            </a:r>
          </a:p>
        </p:txBody>
      </p:sp>
    </p:spTree>
    <p:extLst>
      <p:ext uri="{BB962C8B-B14F-4D97-AF65-F5344CB8AC3E}">
        <p14:creationId xmlns:p14="http://schemas.microsoft.com/office/powerpoint/2010/main" val="1160923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67421" y="27803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rot="-1801313">
            <a:off x="7944412" y="2305957"/>
            <a:ext cx="1603602" cy="9552208"/>
            <a:chOff x="0" y="0"/>
            <a:chExt cx="422348" cy="2515808"/>
          </a:xfrm>
        </p:grpSpPr>
        <p:sp>
          <p:nvSpPr>
            <p:cNvPr id="4" name="Freeform 4"/>
            <p:cNvSpPr/>
            <p:nvPr/>
          </p:nvSpPr>
          <p:spPr>
            <a:xfrm>
              <a:off x="0" y="0"/>
              <a:ext cx="422348" cy="2515808"/>
            </a:xfrm>
            <a:custGeom>
              <a:avLst/>
              <a:gdLst/>
              <a:ahLst/>
              <a:cxnLst/>
              <a:rect l="l" t="t" r="r" b="b"/>
              <a:pathLst>
                <a:path w="422348" h="2515808">
                  <a:moveTo>
                    <a:pt x="0" y="0"/>
                  </a:moveTo>
                  <a:lnTo>
                    <a:pt x="422348" y="0"/>
                  </a:lnTo>
                  <a:lnTo>
                    <a:pt x="422348" y="2515808"/>
                  </a:lnTo>
                  <a:lnTo>
                    <a:pt x="0" y="2515808"/>
                  </a:lnTo>
                  <a:close/>
                </a:path>
              </a:pathLst>
            </a:custGeom>
            <a:solidFill>
              <a:srgbClr val="FFBC00"/>
            </a:solidFill>
          </p:spPr>
        </p:sp>
        <p:sp>
          <p:nvSpPr>
            <p:cNvPr id="5" name="TextBox 5"/>
            <p:cNvSpPr txBox="1"/>
            <p:nvPr/>
          </p:nvSpPr>
          <p:spPr>
            <a:xfrm>
              <a:off x="0" y="-57150"/>
              <a:ext cx="422348" cy="2572958"/>
            </a:xfrm>
            <a:prstGeom prst="rect">
              <a:avLst/>
            </a:prstGeom>
          </p:spPr>
          <p:txBody>
            <a:bodyPr lIns="50800" tIns="50800" rIns="50800" bIns="50800" rtlCol="0" anchor="ctr"/>
            <a:lstStyle/>
            <a:p>
              <a:pPr algn="ctr">
                <a:lnSpc>
                  <a:spcPts val="2659"/>
                </a:lnSpc>
              </a:pPr>
              <a:endParaRPr dirty="0"/>
            </a:p>
          </p:txBody>
        </p:sp>
      </p:grpSp>
      <p:grpSp>
        <p:nvGrpSpPr>
          <p:cNvPr id="6" name="Group 6"/>
          <p:cNvGrpSpPr/>
          <p:nvPr/>
        </p:nvGrpSpPr>
        <p:grpSpPr>
          <a:xfrm rot="-1801313">
            <a:off x="17293479" y="-4169084"/>
            <a:ext cx="1603602" cy="9552208"/>
            <a:chOff x="0" y="0"/>
            <a:chExt cx="422348" cy="2515808"/>
          </a:xfrm>
        </p:grpSpPr>
        <p:sp>
          <p:nvSpPr>
            <p:cNvPr id="7" name="Freeform 7"/>
            <p:cNvSpPr/>
            <p:nvPr/>
          </p:nvSpPr>
          <p:spPr>
            <a:xfrm>
              <a:off x="0" y="0"/>
              <a:ext cx="422348" cy="2515808"/>
            </a:xfrm>
            <a:custGeom>
              <a:avLst/>
              <a:gdLst/>
              <a:ahLst/>
              <a:cxnLst/>
              <a:rect l="l" t="t" r="r" b="b"/>
              <a:pathLst>
                <a:path w="422348" h="2515808">
                  <a:moveTo>
                    <a:pt x="0" y="0"/>
                  </a:moveTo>
                  <a:lnTo>
                    <a:pt x="422348" y="0"/>
                  </a:lnTo>
                  <a:lnTo>
                    <a:pt x="422348" y="2515808"/>
                  </a:lnTo>
                  <a:lnTo>
                    <a:pt x="0" y="2515808"/>
                  </a:lnTo>
                  <a:close/>
                </a:path>
              </a:pathLst>
            </a:custGeom>
            <a:solidFill>
              <a:srgbClr val="FFBC00"/>
            </a:solidFill>
          </p:spPr>
        </p:sp>
        <p:sp>
          <p:nvSpPr>
            <p:cNvPr id="8" name="TextBox 8"/>
            <p:cNvSpPr txBox="1"/>
            <p:nvPr/>
          </p:nvSpPr>
          <p:spPr>
            <a:xfrm>
              <a:off x="0" y="-57150"/>
              <a:ext cx="422348" cy="2572958"/>
            </a:xfrm>
            <a:prstGeom prst="rect">
              <a:avLst/>
            </a:prstGeom>
          </p:spPr>
          <p:txBody>
            <a:bodyPr lIns="50800" tIns="50800" rIns="50800" bIns="50800" rtlCol="0" anchor="ctr"/>
            <a:lstStyle/>
            <a:p>
              <a:pPr algn="ctr">
                <a:lnSpc>
                  <a:spcPts val="2659"/>
                </a:lnSpc>
              </a:pPr>
              <a:endParaRPr dirty="0"/>
            </a:p>
          </p:txBody>
        </p:sp>
      </p:grpSp>
      <p:grpSp>
        <p:nvGrpSpPr>
          <p:cNvPr id="9" name="Group 9"/>
          <p:cNvGrpSpPr/>
          <p:nvPr/>
        </p:nvGrpSpPr>
        <p:grpSpPr>
          <a:xfrm rot="1323218">
            <a:off x="-260294" y="-2499941"/>
            <a:ext cx="9329309" cy="13900928"/>
            <a:chOff x="0" y="0"/>
            <a:chExt cx="640025" cy="953655"/>
          </a:xfrm>
        </p:grpSpPr>
        <p:sp>
          <p:nvSpPr>
            <p:cNvPr id="10" name="Freeform 10"/>
            <p:cNvSpPr/>
            <p:nvPr/>
          </p:nvSpPr>
          <p:spPr>
            <a:xfrm>
              <a:off x="0" y="0"/>
              <a:ext cx="640025" cy="953655"/>
            </a:xfrm>
            <a:custGeom>
              <a:avLst/>
              <a:gdLst/>
              <a:ahLst/>
              <a:cxnLst/>
              <a:rect l="l" t="t" r="r" b="b"/>
              <a:pathLst>
                <a:path w="640025" h="953655">
                  <a:moveTo>
                    <a:pt x="203200" y="0"/>
                  </a:moveTo>
                  <a:lnTo>
                    <a:pt x="640025" y="0"/>
                  </a:lnTo>
                  <a:lnTo>
                    <a:pt x="436825" y="953655"/>
                  </a:lnTo>
                  <a:lnTo>
                    <a:pt x="0" y="953655"/>
                  </a:lnTo>
                  <a:lnTo>
                    <a:pt x="203200" y="0"/>
                  </a:lnTo>
                  <a:close/>
                </a:path>
              </a:pathLst>
            </a:custGeom>
            <a:solidFill>
              <a:srgbClr val="003D60"/>
            </a:solidFill>
          </p:spPr>
        </p:sp>
        <p:sp>
          <p:nvSpPr>
            <p:cNvPr id="11" name="TextBox 11"/>
            <p:cNvSpPr txBox="1"/>
            <p:nvPr/>
          </p:nvSpPr>
          <p:spPr>
            <a:xfrm>
              <a:off x="101600" y="-57150"/>
              <a:ext cx="436825" cy="1010805"/>
            </a:xfrm>
            <a:prstGeom prst="rect">
              <a:avLst/>
            </a:prstGeom>
          </p:spPr>
          <p:txBody>
            <a:bodyPr lIns="50800" tIns="50800" rIns="50800" bIns="50800" rtlCol="0" anchor="ctr"/>
            <a:lstStyle/>
            <a:p>
              <a:pPr algn="ctr">
                <a:lnSpc>
                  <a:spcPts val="2659"/>
                </a:lnSpc>
              </a:pPr>
              <a:endParaRPr dirty="0"/>
            </a:p>
          </p:txBody>
        </p:sp>
      </p:grpSp>
      <p:sp>
        <p:nvSpPr>
          <p:cNvPr id="12" name="Freeform 12"/>
          <p:cNvSpPr/>
          <p:nvPr/>
        </p:nvSpPr>
        <p:spPr>
          <a:xfrm rot="-7234808">
            <a:off x="-545671" y="4853273"/>
            <a:ext cx="16230600" cy="770953"/>
          </a:xfrm>
          <a:custGeom>
            <a:avLst/>
            <a:gdLst/>
            <a:ahLst/>
            <a:cxnLst/>
            <a:rect l="l" t="t" r="r" b="b"/>
            <a:pathLst>
              <a:path w="16230600" h="770953">
                <a:moveTo>
                  <a:pt x="0" y="0"/>
                </a:moveTo>
                <a:lnTo>
                  <a:pt x="16230600" y="0"/>
                </a:lnTo>
                <a:lnTo>
                  <a:pt x="16230600" y="770954"/>
                </a:lnTo>
                <a:lnTo>
                  <a:pt x="0" y="770954"/>
                </a:lnTo>
                <a:lnTo>
                  <a:pt x="0" y="0"/>
                </a:lnTo>
                <a:close/>
              </a:path>
            </a:pathLst>
          </a:custGeom>
          <a:blipFill>
            <a:blip r:embed="rId3">
              <a:alphaModFix amt="52000"/>
            </a:blip>
            <a:stretch>
              <a:fillRect/>
            </a:stretch>
          </a:blipFill>
        </p:spPr>
      </p:sp>
      <p:grpSp>
        <p:nvGrpSpPr>
          <p:cNvPr id="15" name="Group 15"/>
          <p:cNvGrpSpPr/>
          <p:nvPr/>
        </p:nvGrpSpPr>
        <p:grpSpPr>
          <a:xfrm rot="-1801313">
            <a:off x="-1212776" y="4436810"/>
            <a:ext cx="2060748" cy="7889373"/>
            <a:chOff x="0" y="0"/>
            <a:chExt cx="542748" cy="2077860"/>
          </a:xfrm>
        </p:grpSpPr>
        <p:sp>
          <p:nvSpPr>
            <p:cNvPr id="16" name="Freeform 16"/>
            <p:cNvSpPr/>
            <p:nvPr/>
          </p:nvSpPr>
          <p:spPr>
            <a:xfrm>
              <a:off x="0" y="0"/>
              <a:ext cx="542748" cy="2077860"/>
            </a:xfrm>
            <a:custGeom>
              <a:avLst/>
              <a:gdLst/>
              <a:ahLst/>
              <a:cxnLst/>
              <a:rect l="l" t="t" r="r" b="b"/>
              <a:pathLst>
                <a:path w="542748" h="2077860">
                  <a:moveTo>
                    <a:pt x="0" y="0"/>
                  </a:moveTo>
                  <a:lnTo>
                    <a:pt x="542748" y="0"/>
                  </a:lnTo>
                  <a:lnTo>
                    <a:pt x="542748" y="2077860"/>
                  </a:lnTo>
                  <a:lnTo>
                    <a:pt x="0" y="2077860"/>
                  </a:lnTo>
                  <a:close/>
                </a:path>
              </a:pathLst>
            </a:custGeom>
            <a:solidFill>
              <a:srgbClr val="003D60"/>
            </a:solidFill>
          </p:spPr>
        </p:sp>
        <p:sp>
          <p:nvSpPr>
            <p:cNvPr id="17" name="TextBox 17"/>
            <p:cNvSpPr txBox="1"/>
            <p:nvPr/>
          </p:nvSpPr>
          <p:spPr>
            <a:xfrm>
              <a:off x="0" y="-57150"/>
              <a:ext cx="542748" cy="2135010"/>
            </a:xfrm>
            <a:prstGeom prst="rect">
              <a:avLst/>
            </a:prstGeom>
          </p:spPr>
          <p:txBody>
            <a:bodyPr lIns="50800" tIns="50800" rIns="50800" bIns="50800" rtlCol="0" anchor="ctr"/>
            <a:lstStyle/>
            <a:p>
              <a:pPr algn="ctr">
                <a:lnSpc>
                  <a:spcPts val="2659"/>
                </a:lnSpc>
              </a:pPr>
              <a:endParaRPr dirty="0"/>
            </a:p>
          </p:txBody>
        </p:sp>
      </p:grpSp>
      <p:sp>
        <p:nvSpPr>
          <p:cNvPr id="18" name="Freeform 18"/>
          <p:cNvSpPr/>
          <p:nvPr/>
        </p:nvSpPr>
        <p:spPr>
          <a:xfrm rot="-3131416">
            <a:off x="-4080653" y="2120145"/>
            <a:ext cx="12285790" cy="583575"/>
          </a:xfrm>
          <a:custGeom>
            <a:avLst/>
            <a:gdLst/>
            <a:ahLst/>
            <a:cxnLst/>
            <a:rect l="l" t="t" r="r" b="b"/>
            <a:pathLst>
              <a:path w="12285790" h="583575">
                <a:moveTo>
                  <a:pt x="0" y="0"/>
                </a:moveTo>
                <a:lnTo>
                  <a:pt x="12285790" y="0"/>
                </a:lnTo>
                <a:lnTo>
                  <a:pt x="12285790" y="583575"/>
                </a:lnTo>
                <a:lnTo>
                  <a:pt x="0" y="583575"/>
                </a:lnTo>
                <a:lnTo>
                  <a:pt x="0" y="0"/>
                </a:lnTo>
                <a:close/>
              </a:path>
            </a:pathLst>
          </a:custGeom>
          <a:blipFill>
            <a:blip r:embed="rId3">
              <a:alphaModFix amt="65000"/>
            </a:blip>
            <a:stretch>
              <a:fillRect/>
            </a:stretch>
          </a:blipFill>
        </p:spPr>
      </p:sp>
      <p:grpSp>
        <p:nvGrpSpPr>
          <p:cNvPr id="19" name="Group 19"/>
          <p:cNvGrpSpPr/>
          <p:nvPr/>
        </p:nvGrpSpPr>
        <p:grpSpPr>
          <a:xfrm rot="2252587">
            <a:off x="-891563" y="-1816158"/>
            <a:ext cx="3086100" cy="7845843"/>
            <a:chOff x="0" y="0"/>
            <a:chExt cx="812800" cy="2066395"/>
          </a:xfrm>
        </p:grpSpPr>
        <p:sp>
          <p:nvSpPr>
            <p:cNvPr id="20" name="Freeform 20"/>
            <p:cNvSpPr/>
            <p:nvPr/>
          </p:nvSpPr>
          <p:spPr>
            <a:xfrm>
              <a:off x="0" y="0"/>
              <a:ext cx="812800" cy="2066395"/>
            </a:xfrm>
            <a:custGeom>
              <a:avLst/>
              <a:gdLst/>
              <a:ahLst/>
              <a:cxnLst/>
              <a:rect l="l" t="t" r="r" b="b"/>
              <a:pathLst>
                <a:path w="812800" h="2066395">
                  <a:moveTo>
                    <a:pt x="0" y="0"/>
                  </a:moveTo>
                  <a:lnTo>
                    <a:pt x="812800" y="0"/>
                  </a:lnTo>
                  <a:lnTo>
                    <a:pt x="812800" y="2066395"/>
                  </a:lnTo>
                  <a:lnTo>
                    <a:pt x="0" y="2066395"/>
                  </a:lnTo>
                  <a:close/>
                </a:path>
              </a:pathLst>
            </a:custGeom>
            <a:solidFill>
              <a:srgbClr val="FFBC00"/>
            </a:solidFill>
          </p:spPr>
        </p:sp>
        <p:sp>
          <p:nvSpPr>
            <p:cNvPr id="21" name="TextBox 21"/>
            <p:cNvSpPr txBox="1"/>
            <p:nvPr/>
          </p:nvSpPr>
          <p:spPr>
            <a:xfrm>
              <a:off x="0" y="-57150"/>
              <a:ext cx="812800" cy="2123545"/>
            </a:xfrm>
            <a:prstGeom prst="rect">
              <a:avLst/>
            </a:prstGeom>
          </p:spPr>
          <p:txBody>
            <a:bodyPr lIns="50800" tIns="50800" rIns="50800" bIns="50800" rtlCol="0" anchor="ctr"/>
            <a:lstStyle/>
            <a:p>
              <a:pPr algn="ctr">
                <a:lnSpc>
                  <a:spcPts val="2659"/>
                </a:lnSpc>
              </a:pPr>
              <a:endParaRPr dirty="0"/>
            </a:p>
          </p:txBody>
        </p:sp>
      </p:grpSp>
      <p:sp>
        <p:nvSpPr>
          <p:cNvPr id="22" name="TextBox 22"/>
          <p:cNvSpPr txBox="1"/>
          <p:nvPr/>
        </p:nvSpPr>
        <p:spPr>
          <a:xfrm>
            <a:off x="6806933" y="2326386"/>
            <a:ext cx="10877370" cy="1542217"/>
          </a:xfrm>
          <a:prstGeom prst="rect">
            <a:avLst/>
          </a:prstGeom>
        </p:spPr>
        <p:txBody>
          <a:bodyPr wrap="square" lIns="0" tIns="0" rIns="0" bIns="0" rtlCol="0" anchor="t">
            <a:spAutoFit/>
          </a:bodyPr>
          <a:lstStyle/>
          <a:p>
            <a:pPr algn="r">
              <a:lnSpc>
                <a:spcPts val="12986"/>
              </a:lnSpc>
            </a:pPr>
            <a:r>
              <a:rPr lang="en-US" sz="10000" dirty="0">
                <a:solidFill>
                  <a:srgbClr val="003D60"/>
                </a:solidFill>
                <a:latin typeface="League Spartan Bold"/>
              </a:rPr>
              <a:t>THANK YOU!</a:t>
            </a:r>
          </a:p>
        </p:txBody>
      </p:sp>
      <p:sp>
        <p:nvSpPr>
          <p:cNvPr id="24" name="TextBox 24"/>
          <p:cNvSpPr txBox="1"/>
          <p:nvPr/>
        </p:nvSpPr>
        <p:spPr>
          <a:xfrm>
            <a:off x="12208847" y="7975820"/>
            <a:ext cx="5050453" cy="984250"/>
          </a:xfrm>
          <a:prstGeom prst="rect">
            <a:avLst/>
          </a:prstGeom>
        </p:spPr>
        <p:txBody>
          <a:bodyPr lIns="0" tIns="0" rIns="0" bIns="0" rtlCol="0" anchor="t">
            <a:spAutoFit/>
          </a:bodyPr>
          <a:lstStyle/>
          <a:p>
            <a:pPr algn="r">
              <a:lnSpc>
                <a:spcPts val="7699"/>
              </a:lnSpc>
              <a:spcBef>
                <a:spcPct val="0"/>
              </a:spcBef>
            </a:pPr>
            <a:r>
              <a:rPr lang="en-US" sz="5499" dirty="0">
                <a:solidFill>
                  <a:srgbClr val="003D60"/>
                </a:solidFill>
                <a:latin typeface="Poppins Bold"/>
              </a:rPr>
              <a:t>END SLIDE</a:t>
            </a:r>
          </a:p>
        </p:txBody>
      </p:sp>
      <p:pic>
        <p:nvPicPr>
          <p:cNvPr id="2050" name="Picture 2" descr="The 5 best types of toys for children with Autism Spectrum Disorder — Big  Sky Therapeutic Servic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632390" y="5090943"/>
            <a:ext cx="7526195" cy="5018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1992</Words>
  <Application>Microsoft Office PowerPoint</Application>
  <PresentationFormat>Custom</PresentationFormat>
  <Paragraphs>183</Paragraphs>
  <Slides>40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Arial</vt:lpstr>
      <vt:lpstr>Calibri</vt:lpstr>
      <vt:lpstr>League Spartan Bold</vt:lpstr>
      <vt:lpstr>Poppins</vt:lpstr>
      <vt:lpstr>Poppins Bold</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Yellow Modern Business Operations Management Presentation</dc:title>
  <dc:creator>Admin</dc:creator>
  <cp:lastModifiedBy>Admin</cp:lastModifiedBy>
  <cp:revision>30</cp:revision>
  <dcterms:created xsi:type="dcterms:W3CDTF">2006-08-16T00:00:00Z</dcterms:created>
  <dcterms:modified xsi:type="dcterms:W3CDTF">2024-02-29T09:13:36Z</dcterms:modified>
  <dc:identifier>DAF-Ep7OwC8</dc:identifier>
</cp:coreProperties>
</file>